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bc2195aada4a6b" /><Relationship Type="http://schemas.openxmlformats.org/officeDocument/2006/relationships/extended-properties" Target="/docProps/app.xml" Id="R1e139b57e8194ecf" /><Relationship Type="http://schemas.openxmlformats.org/officeDocument/2006/relationships/officeDocument" Target="/ppt/presentation.xml" Id="R764588b98dde4bc0" /></Relationships>
</file>

<file path=ppt/presentation.xml><?xml version="1.0" encoding="utf-8"?>
<p:presentation xmlns:p="http://schemas.openxmlformats.org/presentationml/2006/main">
  <p:sldMasterIdLst>
    <p:sldMasterId xmlns:r="http://schemas.openxmlformats.org/officeDocument/2006/relationships" id="2147483648" r:id="R7a7da3e62dfb42a6"/>
  </p:sldMasterIdLst>
  <p:notesMasterIdLst>
    <p:notesMasterId xmlns:r="http://schemas.openxmlformats.org/officeDocument/2006/relationships" r:id="Rea0ad8c855cf41c1"/>
  </p:notesMasterIdLst>
  <p:sldIdLst>
    <p:sldId xmlns:r="http://schemas.openxmlformats.org/officeDocument/2006/relationships" id="256" r:id="R3fbcb8580734414a"/>
    <p:sldId xmlns:r="http://schemas.openxmlformats.org/officeDocument/2006/relationships" id="257" r:id="Rb453b870fc894f8a"/>
    <p:sldId xmlns:r="http://schemas.openxmlformats.org/officeDocument/2006/relationships" id="258" r:id="R0e8407c32e5541ae"/>
    <p:sldId xmlns:r="http://schemas.openxmlformats.org/officeDocument/2006/relationships" id="259" r:id="R1f5024325c0c4e26"/>
    <p:sldId xmlns:r="http://schemas.openxmlformats.org/officeDocument/2006/relationships" id="260" r:id="R8aa5a498b9044a80"/>
    <p:sldId xmlns:r="http://schemas.openxmlformats.org/officeDocument/2006/relationships" id="261" r:id="R4d11c3d728bd482b"/>
    <p:sldId xmlns:r="http://schemas.openxmlformats.org/officeDocument/2006/relationships" id="262" r:id="R46c7c1e4bf234e2e"/>
    <p:sldId xmlns:r="http://schemas.openxmlformats.org/officeDocument/2006/relationships" id="263" r:id="R9d94a13a11ec4bbf"/>
    <p:sldId xmlns:r="http://schemas.openxmlformats.org/officeDocument/2006/relationships" id="264" r:id="R22c607abe4594d43"/>
    <p:sldId xmlns:r="http://schemas.openxmlformats.org/officeDocument/2006/relationships" id="265" r:id="R40396c98140341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590715bee04e16" /><Relationship Type="http://schemas.openxmlformats.org/officeDocument/2006/relationships/slideMaster" Target="/ppt/slideMasters/slideMaster1.xml" Id="R7a7da3e62dfb42a6" /><Relationship Type="http://schemas.openxmlformats.org/officeDocument/2006/relationships/notesMaster" Target="/ppt/notesMasters/notesMaster1.xml" Id="Rea0ad8c855cf41c1" /><Relationship Type="http://schemas.openxmlformats.org/officeDocument/2006/relationships/presProps" Target="/ppt/presProps.xml" Id="R720f47e4199b4f6f" /><Relationship Type="http://schemas.openxmlformats.org/officeDocument/2006/relationships/tableStyles" Target="/ppt/tableStyles.xml" Id="R8bd855e42da04adf" /><Relationship Type="http://schemas.openxmlformats.org/officeDocument/2006/relationships/slide" Target="/ppt/slides/slide1.xml" Id="R3fbcb8580734414a" /><Relationship Type="http://schemas.openxmlformats.org/officeDocument/2006/relationships/slide" Target="/ppt/slides/slide2.xml" Id="Rb453b870fc894f8a" /><Relationship Type="http://schemas.openxmlformats.org/officeDocument/2006/relationships/slide" Target="/ppt/slides/slide3.xml" Id="R0e8407c32e5541ae" /><Relationship Type="http://schemas.openxmlformats.org/officeDocument/2006/relationships/slide" Target="/ppt/slides/slide4.xml" Id="R1f5024325c0c4e26" /><Relationship Type="http://schemas.openxmlformats.org/officeDocument/2006/relationships/slide" Target="/ppt/slides/slide5.xml" Id="R8aa5a498b9044a80" /><Relationship Type="http://schemas.openxmlformats.org/officeDocument/2006/relationships/slide" Target="/ppt/slides/slide6.xml" Id="R4d11c3d728bd482b" /><Relationship Type="http://schemas.openxmlformats.org/officeDocument/2006/relationships/slide" Target="/ppt/slides/slide7.xml" Id="R46c7c1e4bf234e2e" /><Relationship Type="http://schemas.openxmlformats.org/officeDocument/2006/relationships/slide" Target="/ppt/slides/slide8.xml" Id="R9d94a13a11ec4bbf" /><Relationship Type="http://schemas.openxmlformats.org/officeDocument/2006/relationships/slide" Target="/ppt/slides/slide9.xml" Id="R22c607abe4594d43" /><Relationship Type="http://schemas.openxmlformats.org/officeDocument/2006/relationships/slide" Target="/ppt/slides/slide10.xml" Id="R40396c98140341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61aaa2cf0f4b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b9d8d0c57e4d32" /><Relationship Type="http://schemas.openxmlformats.org/officeDocument/2006/relationships/notesMaster" Target="/ppt/notesMasters/notesMaster1.xml" Id="R1f572e6927b045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9c5b0ee0b1449f" /><Relationship Type="http://schemas.openxmlformats.org/officeDocument/2006/relationships/notesMaster" Target="/ppt/notesMasters/notesMaster1.xml" Id="Rcde189539a264a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46a53fd1f74f6b" /><Relationship Type="http://schemas.openxmlformats.org/officeDocument/2006/relationships/notesMaster" Target="/ppt/notesMasters/notesMaster1.xml" Id="R2e965aa2b3c048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1eb0e0278646d6" /><Relationship Type="http://schemas.openxmlformats.org/officeDocument/2006/relationships/notesMaster" Target="/ppt/notesMasters/notesMaster1.xml" Id="R445b65566e564a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d047dd62444c7f" /><Relationship Type="http://schemas.openxmlformats.org/officeDocument/2006/relationships/notesMaster" Target="/ppt/notesMasters/notesMaster1.xml" Id="R14deb68caef14b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e0d4be01a74b90" /><Relationship Type="http://schemas.openxmlformats.org/officeDocument/2006/relationships/notesMaster" Target="/ppt/notesMasters/notesMaster1.xml" Id="R826ba4846db546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8a378ba1744ac5" /><Relationship Type="http://schemas.openxmlformats.org/officeDocument/2006/relationships/notesMaster" Target="/ppt/notesMasters/notesMaster1.xml" Id="R462b7229ce0f4a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b8316556a84787" /><Relationship Type="http://schemas.openxmlformats.org/officeDocument/2006/relationships/notesMaster" Target="/ppt/notesMasters/notesMaster1.xml" Id="R68bfd2bd50d34b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c75803f36e4d06" /><Relationship Type="http://schemas.openxmlformats.org/officeDocument/2006/relationships/notesMaster" Target="/ppt/notesMasters/notesMaster1.xml" Id="R9e4642cd331f46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bea47571e84376" /><Relationship Type="http://schemas.openxmlformats.org/officeDocument/2006/relationships/notesMaster" Target="/ppt/notesMasters/notesMaster1.xml" Id="Rce2bd1bb607646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Study objective: open with the outcome, not the technology list. Say: ‘I built SignalForge to demonstrate how I approach a SOC problem end to end: normalize telemetry, write detections, prioritize alerts, document decisions, and automate repeatable validation.’ Then explain that the numbers are deterministic lab results, not inflated production claims.</a:t>
            </a:r>
          </a:p>
          <a:p xmlns:a="http://schemas.openxmlformats.org/drawingml/2006/main">
            <a:r>
              <a:t/>
            </a:r>
          </a:p>
          <a:p xmlns:a="http://schemas.openxmlformats.org/drawingml/2006/main">
            <a:r>
              <a:t>Recruiter cue: connect the project to advanced SOC analysis, detection content, alert tuning, incident reporting, and scripting within the first 30 seconds.</a:t>
            </a:r>
          </a:p>
          <a:p xmlns:a="http://schemas.openxmlformats.org/drawingml/2006/main">
            <a:r>
              <a:t/>
            </a:r>
          </a:p>
          <a:p xmlns:a="http://schemas.openxmlformats.org/drawingml/2006/main">
            <a:r>
              <a:t>Likely question: ‘Is this connected to real CrowdStrike or Splunk?’ Answer: ‘No. It deliberately uses synthetic schema-shaped telemetry and portfolio-ready SPL. I document that boundary clearly and would validate against authorized tenants before production use.’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scripts/validate_lab.py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down this slide as a requirements traceability matrix. Avoid saying the project replaces commercial platforms. The point is that it demonstrates the engineering habits the role needs.</a:t>
            </a:r>
          </a:p>
          <a:p xmlns:a="http://schemas.openxmlformats.org/drawingml/2006/main">
            <a:r>
              <a:t/>
            </a:r>
          </a:p>
          <a:p xmlns:a="http://schemas.openxmlformats.org/drawingml/2006/main">
            <a:r>
              <a:t>Suggested phrasing: ‘For every major responsibility in the posting, I created a visible artifact: detection content, a triage surface, a documented investigation path, tests, and an automation control.’</a:t>
            </a:r>
          </a:p>
          <a:p xmlns:a="http://schemas.openxmlformats.org/drawingml/2006/main">
            <a:r>
              <a:t/>
            </a:r>
          </a:p>
          <a:p xmlns:a="http://schemas.openxmlformats.org/drawingml/2006/main">
            <a:r>
              <a:t>Recruiter question: ‘Where is your strongest alignment?’ Emphasize SPL logic, endpoint/email correlation, and translating alerts into an investigation narrative.</a:t>
            </a:r>
          </a:p>
          <a:p xmlns:a="http://schemas.openxmlformats.org/drawingml/2006/main">
            <a:r>
              <a:t/>
            </a:r>
          </a:p>
          <a:p xmlns:a="http://schemas.openxmlformats.org/drawingml/2006/main">
            <a:r>
              <a:t>Technical interviewer question: ‘How would you operationalize this?’ Mention source onboarding, CIM mapping, data-quality monitoring, risk-based alerting, tuning governance, and change-controlled response actions.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docs/DETECTION_CATALOG.md</a:t>
            </a:r>
          </a:p>
          <a:p xmlns:a="http://schemas.openxmlformats.org/drawingml/2006/main">
            <a:r>
              <a:t>- splunk/detections/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architecture from left to right. The small footprint is intentional: one container and a SQLite database make the lab easy to run and easy to inspect.</a:t>
            </a:r>
          </a:p>
          <a:p xmlns:a="http://schemas.openxmlformats.org/drawingml/2006/main">
            <a:r>
              <a:t/>
            </a:r>
          </a:p>
          <a:p xmlns:a="http://schemas.openxmlformats.org/drawingml/2006/main">
            <a:r>
              <a:t>Key engineering point: normalization separates source-specific fields from detection logic. That is the same design concern encountered when onboarding data into Splunk CIM or a SOAR enrichment workflow.</a:t>
            </a:r>
          </a:p>
          <a:p xmlns:a="http://schemas.openxmlformats.org/drawingml/2006/main">
            <a:r>
              <a:t/>
            </a:r>
          </a:p>
          <a:p xmlns:a="http://schemas.openxmlformats.org/drawingml/2006/main">
            <a:r>
              <a:t>Security control: the system does not contain credentials or execute remediation. This protects against accidentally presenting a demo lab as a production integration.</a:t>
            </a:r>
          </a:p>
          <a:p xmlns:a="http://schemas.openxmlformats.org/drawingml/2006/main">
            <a:r>
              <a:t/>
            </a:r>
          </a:p>
          <a:p xmlns:a="http://schemas.openxmlformats.org/drawingml/2006/main">
            <a:r>
              <a:t>Study prompt: be ready to explain what you would add in production—authentication, RBAC, encrypted secrets, durable queues, retention, observability, and an approval-gated response layer.</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compose.yaml</a:t>
            </a:r>
          </a:p>
          <a:p xmlns:a="http://schemas.openxmlformats.org/drawingml/2006/main">
            <a:r>
              <a:t>- soclab/database.py</a:t>
            </a:r>
          </a:p>
          <a:p xmlns:a="http://schemas.openxmlformats.org/drawingml/2006/main">
            <a:r>
              <a:t>- soclab/detections.py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lead an actual demo. Start with a clean terminal and narrate what each command proves.</a:t>
            </a:r>
          </a:p>
          <a:p xmlns:a="http://schemas.openxmlformats.org/drawingml/2006/main">
            <a:r>
              <a:t/>
            </a:r>
          </a:p>
          <a:p xmlns:a="http://schemas.openxmlformats.org/drawingml/2006/main">
            <a:r>
              <a:t>1. Clone proves reproducibility. 2. Compose builds and waits for the healthcheck. 3. The validator checks health, safety disclosure, source counts, alert counts, key detections, and the six-rule pack. 4. The dashboard makes the results accessible to a non-developer.</a:t>
            </a:r>
          </a:p>
          <a:p xmlns:a="http://schemas.openxmlformats.org/drawingml/2006/main">
            <a:r>
              <a:t/>
            </a:r>
          </a:p>
          <a:p xmlns:a="http://schemas.openxmlformats.org/drawingml/2006/main">
            <a:r>
              <a:t>If Docker is already running, the full walkthrough is approximately two minutes. Do not remove the volume during a recruiter demo unless you want to show a reset.</a:t>
            </a:r>
          </a:p>
          <a:p xmlns:a="http://schemas.openxmlformats.org/drawingml/2006/main">
            <a:r>
              <a:t/>
            </a:r>
          </a:p>
          <a:p xmlns:a="http://schemas.openxmlformats.org/drawingml/2006/main">
            <a:r>
              <a:t>Troubleshooting answer: if localhost does not open, run ‘docker compose ps’ and ‘docker compose logs soc-lab’; then check whether port 8080 is already in use.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docs/SETUP.md</a:t>
            </a:r>
          </a:p>
          <a:p xmlns:a="http://schemas.openxmlformats.org/drawingml/2006/main">
            <a:r>
              <a:t>- scripts/validate_lab.py</a:t>
            </a:r>
          </a:p>
          <a:p xmlns:a="http://schemas.openxmlformats.org/drawingml/2006/main">
            <a:r>
              <a:t>- docs/TROUBLESHOOTING.md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here and point to the evidence in order: 12 ingested events, 6 rule-generated alerts, 3 critical findings, then the priority queue. Next point out the source health and MITRE coverage areas lower on the full-page capture.</a:t>
            </a:r>
          </a:p>
          <a:p xmlns:a="http://schemas.openxmlformats.org/drawingml/2006/main">
            <a:r>
              <a:t/>
            </a:r>
          </a:p>
          <a:p xmlns:a="http://schemas.openxmlformats.org/drawingml/2006/main">
            <a:r>
              <a:t>What to say: ‘The dashboard is an analyst surface, not the detection engine. The API and database remain testable independently, which prevents presentation logic from becoming security logic.’</a:t>
            </a:r>
          </a:p>
          <a:p xmlns:a="http://schemas.openxmlformats.org/drawingml/2006/main">
            <a:r>
              <a:t/>
            </a:r>
          </a:p>
          <a:p xmlns:a="http://schemas.openxmlformats.org/drawingml/2006/main">
            <a:r>
              <a:t>CrowdStrike disclosure: call out the visible statement that events are schema-compatible and synthetic. This is a credibility strength.</a:t>
            </a:r>
          </a:p>
          <a:p xmlns:a="http://schemas.openxmlformats.org/drawingml/2006/main">
            <a:r>
              <a:t/>
            </a:r>
          </a:p>
          <a:p xmlns:a="http://schemas.openxmlformats.org/drawingml/2006/main">
            <a:r>
              <a:t>Demo action: click Refresh. Explain that the button re-queries the live API and that browser validation confirmed the expected values after the interaction.</a:t>
            </a:r>
          </a:p>
          <a:p xmlns:a="http://schemas.openxmlformats.org/drawingml/2006/main">
            <a:r>
              <a:t/>
            </a:r>
          </a:p>
          <a:p xmlns:a="http://schemas.openxmlformats.org/drawingml/2006/main">
            <a:r>
              <a:t>[Sources]</a:t>
            </a:r>
          </a:p>
          <a:p xmlns:a="http://schemas.openxmlformats.org/drawingml/2006/main">
            <a:r>
              <a:t>- screenshots/soc-command-center.png</a:t>
            </a:r>
          </a:p>
          <a:p xmlns:a="http://schemas.openxmlformats.org/drawingml/2006/main">
            <a:r>
              <a:t>- web/app.js</a:t>
            </a:r>
          </a:p>
          <a:p xmlns:a="http://schemas.openxmlformats.org/drawingml/2006/main">
            <a:r>
              <a:t>- scripts/validate_lab.py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this as an investigation, not three unrelated alerts. The same finance user and host create the correlation story.</a:t>
            </a:r>
          </a:p>
          <a:p xmlns:a="http://schemas.openxmlformats.org/drawingml/2006/main">
            <a:r>
              <a:t/>
            </a:r>
          </a:p>
          <a:p xmlns:a="http://schemas.openxmlformats.org/drawingml/2006/main">
            <a:r>
              <a:t>Triage sequence: validate email delivery and URL; confirm process ancestry and command line; inspect the endpoint identity and hash; establish whether LSASS access followed; search for additional users, hosts, and network indicators; then document containment recommendations.</a:t>
            </a:r>
          </a:p>
          <a:p xmlns:a="http://schemas.openxmlformats.org/drawingml/2006/main">
            <a:r>
              <a:t/>
            </a:r>
          </a:p>
          <a:p xmlns:a="http://schemas.openxmlformats.org/drawingml/2006/main">
            <a:r>
              <a:t>Be precise: the lab detects synthetic behaviors. It does not prove malware execution in a real environment. In production, corroborate with Falcon process tree, identity telemetry, DNS/proxy logs, mailbox audit, and asset criticality.</a:t>
            </a:r>
          </a:p>
          <a:p xmlns:a="http://schemas.openxmlformats.org/drawingml/2006/main">
            <a:r>
              <a:t/>
            </a:r>
          </a:p>
          <a:p xmlns:a="http://schemas.openxmlformats.org/drawingml/2006/main">
            <a:r>
              <a:t>Likely interview question: ‘What would you tune?’ Answer: tune on parent-child relationship, encoded command context, approved automation identities, signed binaries, device group, and recurrence—never on process name alone.</a:t>
            </a:r>
          </a:p>
          <a:p xmlns:a="http://schemas.openxmlformats.org/drawingml/2006/main">
            <a:r>
              <a:t/>
            </a:r>
          </a:p>
          <a:p xmlns:a="http://schemas.openxmlformats.org/drawingml/2006/main">
            <a:r>
              <a:t>[Sources]</a:t>
            </a:r>
          </a:p>
          <a:p xmlns:a="http://schemas.openxmlformats.org/drawingml/2006/main">
            <a:r>
              <a:t>- data/events.jsonl</a:t>
            </a:r>
          </a:p>
          <a:p xmlns:a="http://schemas.openxmlformats.org/drawingml/2006/main">
            <a:r>
              <a:t>- soclab/detections.py</a:t>
            </a:r>
          </a:p>
          <a:p xmlns:a="http://schemas.openxmlformats.org/drawingml/2006/main">
            <a:r>
              <a:t>- docs/ANALYST_RUNBOOK.md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SPL line by line. Explain why lowercase normalization prevents casing misses, why parent process narrows false positives, why the stable Falcon endpoint identifier matters, and why metadata supports downstream correlation searches or notable events.</a:t>
            </a:r>
          </a:p>
          <a:p xmlns:a="http://schemas.openxmlformats.org/drawingml/2006/main">
            <a:r>
              <a:t/>
            </a:r>
          </a:p>
          <a:p xmlns:a="http://schemas.openxmlformats.org/drawingml/2006/main">
            <a:r>
              <a:t>Senior-level point: a detection is not finished when the query returns results. It needs ownership, severity rationale, MITRE mapping, expected data sources, false-positive analysis, validation cases, and a tuning/change history.</a:t>
            </a:r>
          </a:p>
          <a:p xmlns:a="http://schemas.openxmlformats.org/drawingml/2006/main">
            <a:r>
              <a:t/>
            </a:r>
          </a:p>
          <a:p xmlns:a="http://schemas.openxmlformats.org/drawingml/2006/main">
            <a:r>
              <a:t>If asked about Splunk ES, describe how this search could become a correlation search, populate notable/RBA fields, use macros for environment filters, and be validated against the customer’s CIM and sourcetype conventions.</a:t>
            </a:r>
          </a:p>
          <a:p xmlns:a="http://schemas.openxmlformats.org/drawingml/2006/main">
            <a:r>
              <a:t/>
            </a:r>
          </a:p>
          <a:p xmlns:a="http://schemas.openxmlformats.org/drawingml/2006/main">
            <a:r>
              <a:t>Do not claim the query ran inside Splunk; it is structurally tested and designed for an authorized Splunk environment.</a:t>
            </a:r>
          </a:p>
          <a:p xmlns:a="http://schemas.openxmlformats.org/drawingml/2006/main">
            <a:r>
              <a:t/>
            </a:r>
          </a:p>
          <a:p xmlns:a="http://schemas.openxmlformats.org/drawingml/2006/main">
            <a:r>
              <a:t>[Sources]</a:t>
            </a:r>
          </a:p>
          <a:p xmlns:a="http://schemas.openxmlformats.org/drawingml/2006/main">
            <a:r>
              <a:t>- splunk/detections/encoded_powershell_office.spl</a:t>
            </a:r>
          </a:p>
          <a:p xmlns:a="http://schemas.openxmlformats.org/drawingml/2006/main">
            <a:r>
              <a:t>- splunk/macros.conf</a:t>
            </a:r>
          </a:p>
          <a:p xmlns:a="http://schemas.openxmlformats.org/drawingml/2006/main">
            <a:r>
              <a:t>- tests/test_spl_content.py</a:t>
            </a:r>
          </a:p>
          <a:p xmlns:a="http://schemas.openxmlformats.org/drawingml/2006/main">
            <a:r>
              <a:t>- docs/DETECTION_CATALOG.md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trust-building moment. Say exactly what was validated and what was not. Recruiters and security leaders value candidates who do not blur a lab demonstration into a production claim.</a:t>
            </a:r>
          </a:p>
          <a:p xmlns:a="http://schemas.openxmlformats.org/drawingml/2006/main">
            <a:r>
              <a:t/>
            </a:r>
          </a:p>
          <a:p xmlns:a="http://schemas.openxmlformats.org/drawingml/2006/main">
            <a:r>
              <a:t>If asked how you would connect Falcon: obtain written authorization and least-privilege credentials; store secrets outside Git; ingest a redacted sample; compare field names and types; run detections read-only; review results with a Falcon-qualified analyst; enable response only through change control.</a:t>
            </a:r>
          </a:p>
          <a:p xmlns:a="http://schemas.openxmlformats.org/drawingml/2006/main">
            <a:r>
              <a:t/>
            </a:r>
          </a:p>
          <a:p xmlns:a="http://schemas.openxmlformats.org/drawingml/2006/main">
            <a:r>
              <a:t>Key phrase to memorize: ‘Schema-compatible validation proves my engineering assumptions, not vendor certification.’</a:t>
            </a:r>
          </a:p>
          <a:p xmlns:a="http://schemas.openxmlformats.org/drawingml/2006/main">
            <a:r>
              <a:t/>
            </a:r>
          </a:p>
          <a:p xmlns:a="http://schemas.openxmlformats.org/drawingml/2006/main">
            <a:r>
              <a:t>The same boundary applies to Proofpoint, Wiz, Zscaler, and Splunk.</a:t>
            </a:r>
          </a:p>
          <a:p xmlns:a="http://schemas.openxmlformats.org/drawingml/2006/main">
            <a:r>
              <a:t/>
            </a:r>
          </a:p>
          <a:p xmlns:a="http://schemas.openxmlformats.org/drawingml/2006/main">
            <a:r>
              <a:t>[Sources]</a:t>
            </a:r>
          </a:p>
          <a:p xmlns:a="http://schemas.openxmlformats.org/drawingml/2006/main">
            <a:r>
              <a:t>- docs/CROWDSTRIKE_VALIDATION.md</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story with the STAR method. Situation: the container restarted on first ingestion. Task: identify the failure without damaging unrelated Docker data. Action: inspect logs, trace JSON parsing, make the loader whitespace-tolerant, remove only the project’s named volume, and rerun tests plus live validation. Result: the container became healthy and all assertions passed.</a:t>
            </a:r>
          </a:p>
          <a:p xmlns:a="http://schemas.openxmlformats.org/drawingml/2006/main">
            <a:r>
              <a:t/>
            </a:r>
          </a:p>
          <a:p xmlns:a="http://schemas.openxmlformats.org/drawingml/2006/main">
            <a:r>
              <a:t>What this demonstrates: calm incident-style diagnosis, scoped remediation, change verification, and documentation for the next analyst.</a:t>
            </a:r>
          </a:p>
          <a:p xmlns:a="http://schemas.openxmlformats.org/drawingml/2006/main">
            <a:r>
              <a:t/>
            </a:r>
          </a:p>
          <a:p xmlns:a="http://schemas.openxmlformats.org/drawingml/2006/main">
            <a:r>
              <a:t>Likely question: ‘What would you do differently?’ Answer: add a fixture-lint step before container startup and a malformed-record metric or dead-letter path for production ingestion.</a:t>
            </a:r>
          </a:p>
          <a:p xmlns:a="http://schemas.openxmlformats.org/drawingml/2006/main">
            <a:r>
              <a:t/>
            </a:r>
          </a:p>
          <a:p xmlns:a="http://schemas.openxmlformats.org/drawingml/2006/main">
            <a:r>
              <a:t>Mention that the troubleshooting guide includes port conflicts, Docker daemon checks, health failures, data reset, and PowerShell execution policy issues.</a:t>
            </a:r>
          </a:p>
          <a:p xmlns:a="http://schemas.openxmlformats.org/drawingml/2006/main">
            <a:r>
              <a:t/>
            </a:r>
          </a:p>
          <a:p xmlns:a="http://schemas.openxmlformats.org/drawingml/2006/main">
            <a:r>
              <a:t>[Sources]</a:t>
            </a:r>
          </a:p>
          <a:p xmlns:a="http://schemas.openxmlformats.org/drawingml/2006/main">
            <a:r>
              <a:t>- docs/BUILD_NOTES.md</a:t>
            </a:r>
          </a:p>
          <a:p xmlns:a="http://schemas.openxmlformats.org/drawingml/2006/main">
            <a:r>
              <a:t>- docs/TROUBLESHOOTING.md</a:t>
            </a:r>
          </a:p>
          <a:p xmlns:a="http://schemas.openxmlformats.org/drawingml/2006/main">
            <a:r>
              <a:t>- soclab/database.py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claim. Suggested final statement: ‘SignalForge shows how I work: I make detection logic inspectable, connect alerts into an incident story, automate verification, and state technical boundaries honestly. That operating style is what I would bring to your SOC.’</a:t>
            </a:r>
          </a:p>
          <a:p xmlns:a="http://schemas.openxmlformats.org/drawingml/2006/main">
            <a:r>
              <a:t/>
            </a:r>
          </a:p>
          <a:p xmlns:a="http://schemas.openxmlformats.org/drawingml/2006/main">
            <a:r>
              <a:t>Then invite depth: ‘I can walk through the SPL, the phishing-to-endpoint scenario, the Docker design, or the troubleshooting decision—whichever is most useful.’</a:t>
            </a:r>
          </a:p>
          <a:p xmlns:a="http://schemas.openxmlformats.org/drawingml/2006/main">
            <a:r>
              <a:t/>
            </a:r>
          </a:p>
          <a:p xmlns:a="http://schemas.openxmlformats.org/drawingml/2006/main">
            <a:r>
              <a:t>Study checklist before an interview: run the lab once; rehearse the two-minute demo; explain one detection line by line; tell the JSONL troubleshooting story using STAR; distinguish synthetic validation from tenant validation; prepare one example of how you would tune and measure a detection in production.</a:t>
            </a:r>
          </a:p>
          <a:p xmlns:a="http://schemas.openxmlformats.org/drawingml/2006/main">
            <a:r>
              <a:t/>
            </a:r>
          </a:p>
          <a:p xmlns:a="http://schemas.openxmlformats.org/drawingml/2006/main">
            <a:r>
              <a:t>Do not memorize every sentence. Memorize the sequence: problem, evidence, decision, boundary, next step.</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https://github.com/JoelManglin/soc-detection-engineering-lab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524c2c5eab45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fe417b0419460b" /><Relationship Type="http://schemas.openxmlformats.org/officeDocument/2006/relationships/slideLayout" Target="/ppt/slideLayouts/slideLayout1.xml" Id="Rd30f17219ac648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0f17219ac648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5037125e0c41a4" /><Relationship Type="http://schemas.openxmlformats.org/officeDocument/2006/relationships/notesSlide" Target="/ppt/notesSlides/notesSlide1.xml" Id="Re99f07948a734d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f36371d6084286" /><Relationship Type="http://schemas.openxmlformats.org/officeDocument/2006/relationships/notesSlide" Target="/ppt/notesSlides/notesSlide2.xml" Id="R5cfe3098a1384f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937a102df04a8b" /><Relationship Type="http://schemas.openxmlformats.org/officeDocument/2006/relationships/notesSlide" Target="/ppt/notesSlides/notesSlide3.xml" Id="Reb7da3db48a843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c326bcb866486d" /><Relationship Type="http://schemas.openxmlformats.org/officeDocument/2006/relationships/notesSlide" Target="/ppt/notesSlides/notesSlide4.xml" Id="R5f5cff4a7e974e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3b97c24fd14f35" /><Relationship Type="http://schemas.openxmlformats.org/officeDocument/2006/relationships/image" Target="/ppt/media/image.jpeg" Id="Rd63137603d4547c5" /><Relationship Type="http://schemas.openxmlformats.org/officeDocument/2006/relationships/notesSlide" Target="/ppt/notesSlides/notesSlide5.xml" Id="R2159fc797b1c44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62f7c7fc97400f" /><Relationship Type="http://schemas.openxmlformats.org/officeDocument/2006/relationships/notesSlide" Target="/ppt/notesSlides/notesSlide6.xml" Id="R797d2800eb3f4b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82c9d684b54e31" /><Relationship Type="http://schemas.openxmlformats.org/officeDocument/2006/relationships/notesSlide" Target="/ppt/notesSlides/notesSlide7.xml" Id="Ra916a756f71c4c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05965ffcc84a8a" /><Relationship Type="http://schemas.openxmlformats.org/officeDocument/2006/relationships/notesSlide" Target="/ppt/notesSlides/notesSlide8.xml" Id="R6380271e4d3044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22866e76e64e20" /><Relationship Type="http://schemas.openxmlformats.org/officeDocument/2006/relationships/notesSlide" Target="/ppt/notesSlides/notesSlide9.xml" Id="Rcb4a6f6e72b24e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93d62aa95a4947" /><Relationship Type="http://schemas.openxmlformats.org/officeDocument/2006/relationships/notesSlide" Target="/ppt/notesSlides/notesSlide10.xml" Id="Rc0fd7ee6db4e494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ccent-rail">
            <a:extLst xmlns:a="http://schemas.openxmlformats.org/drawingml/2006/main">
              <a:ext uri="{FF2B5EF4-FFF2-40B4-BE49-F238E27FC236}">
                <a16:creationId xmlns:a16="http://schemas.microsoft.com/office/drawing/2014/main" id="{A8E3426E-FB38-4C23-BAE3-D4A500D8FB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B6F04A"/>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4666D380-08D4-4523-B8FD-2CC80238E5F5}"/>
              </a:ext>
            </a:extLst>
          </p:cNvPr>
          <p:cNvSpPr>
            <a:spLocks xmlns:a="http://schemas.openxmlformats.org/drawingml/2006/main" noGrp="1"/>
          </p:cNvSpPr>
          <p:nvPr/>
        </p:nvSpPr>
        <p:spPr>
          <a:xfrm xmlns:a="http://schemas.openxmlformats.org/drawingml/2006/main">
            <a:off x="552450" y="4572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734D"/>
                </a:solidFill>
              </a:defRPr>
            </a:pPr>
            <a:r>
              <a:rPr sz="1350" b="1">
                <a:solidFill>
                  <a:srgbClr val="16734D"/>
                </a:solidFill>
              </a:rPr>
              <a:t>SIGNALFORGE</a:t>
            </a:r>
          </a:p>
        </p:txBody>
      </p:sp>
      <p:sp>
        <p:nvSpPr>
          <p:cNvPr id="3" name="deck-title">
            <a:extLst xmlns:a="http://schemas.openxmlformats.org/drawingml/2006/main">
              <a:ext uri="{FF2B5EF4-FFF2-40B4-BE49-F238E27FC236}">
                <a16:creationId xmlns:a16="http://schemas.microsoft.com/office/drawing/2014/main" id="{896BF048-E9C6-45EB-A4EA-FBAD3FADC096}"/>
              </a:ext>
            </a:extLst>
          </p:cNvPr>
          <p:cNvSpPr>
            <a:spLocks xmlns:a="http://schemas.openxmlformats.org/drawingml/2006/main" noGrp="1"/>
          </p:cNvSpPr>
          <p:nvPr/>
        </p:nvSpPr>
        <p:spPr>
          <a:xfrm xmlns:a="http://schemas.openxmlformats.org/drawingml/2006/main">
            <a:off x="552450" y="1619250"/>
            <a:ext cx="7810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650" b="1">
                <a:solidFill>
                  <a:srgbClr val="071A14"/>
                </a:solidFill>
              </a:defRPr>
            </a:pPr>
            <a:r>
              <a:rPr sz="4650" b="1">
                <a:solidFill>
                  <a:srgbClr val="071A14"/>
                </a:solidFill>
              </a:rPr>
              <a:t>SOC Detection</a:t>
            </a:r>
          </a:p>
          <a:p xmlns:a="http://schemas.openxmlformats.org/drawingml/2006/main">
            <a:pPr algn="l">
              <a:defRPr sz="4650" b="1">
                <a:solidFill>
                  <a:srgbClr val="071A14"/>
                </a:solidFill>
              </a:defRPr>
            </a:pPr>
            <a:r>
              <a:rPr sz="4650" b="1">
                <a:solidFill>
                  <a:srgbClr val="071A14"/>
                </a:solidFill>
              </a:rPr>
              <a:t>Engineering Lab</a:t>
            </a:r>
          </a:p>
        </p:txBody>
      </p:sp>
      <p:sp>
        <p:nvSpPr>
          <p:cNvPr id="4" name="subtitle">
            <a:extLst xmlns:a="http://schemas.openxmlformats.org/drawingml/2006/main">
              <a:ext uri="{FF2B5EF4-FFF2-40B4-BE49-F238E27FC236}">
                <a16:creationId xmlns:a16="http://schemas.microsoft.com/office/drawing/2014/main" id="{FC024F05-7585-41ED-B644-44BAAD59F74C}"/>
              </a:ext>
            </a:extLst>
          </p:cNvPr>
          <p:cNvSpPr>
            <a:spLocks xmlns:a="http://schemas.openxmlformats.org/drawingml/2006/main" noGrp="1"/>
          </p:cNvSpPr>
          <p:nvPr/>
        </p:nvSpPr>
        <p:spPr>
          <a:xfrm xmlns:a="http://schemas.openxmlformats.org/drawingml/2006/main">
            <a:off x="571500" y="3695700"/>
            <a:ext cx="723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61716A"/>
                </a:solidFill>
              </a:defRPr>
            </a:pPr>
            <a:r>
              <a:rPr sz="1875" b="0">
                <a:solidFill>
                  <a:srgbClr val="61716A"/>
                </a:solidFill>
              </a:rPr>
              <a:t>A recruiter-ready walkthrough of detection engineering, triage, threat hunting, automation, and honest vendor validation.</a:t>
            </a:r>
          </a:p>
        </p:txBody>
      </p:sp>
      <p:sp>
        <p:nvSpPr>
          <p:cNvPr id="5" name="evidence-field">
            <a:extLst xmlns:a="http://schemas.openxmlformats.org/drawingml/2006/main">
              <a:ext uri="{FF2B5EF4-FFF2-40B4-BE49-F238E27FC236}">
                <a16:creationId xmlns:a16="http://schemas.microsoft.com/office/drawing/2014/main" id="{BC423B74-606E-4CD2-A82D-E6CD8A56AB1A}"/>
              </a:ext>
            </a:extLst>
          </p:cNvPr>
          <p:cNvSpPr>
            <a:spLocks xmlns:a="http://schemas.openxmlformats.org/drawingml/2006/main" noGrp="1"/>
          </p:cNvSpPr>
          <p:nvPr/>
        </p:nvSpPr>
        <p:spPr>
          <a:xfrm xmlns:a="http://schemas.openxmlformats.org/drawingml/2006/main">
            <a:off x="8896350" y="666750"/>
            <a:ext cx="2571750" cy="5143500"/>
          </a:xfrm>
          <a:prstGeom xmlns:a="http://schemas.openxmlformats.org/drawingml/2006/main" prst="rect">
            <a:avLst/>
          </a:prstGeom>
          <a:solidFill xmlns:a="http://schemas.openxmlformats.org/drawingml/2006/main">
            <a:srgbClr val="0B1914"/>
          </a:solidFill>
          <a:ln xmlns:a="http://schemas.openxmlformats.org/drawingml/2006/main" w="0">
            <a:noFill/>
            <a:prstDash val="solid"/>
          </a:ln>
        </p:spPr>
      </p:sp>
      <p:sp>
        <p:nvSpPr>
          <p:cNvPr id="6" name="events">
            <a:extLst xmlns:a="http://schemas.openxmlformats.org/drawingml/2006/main">
              <a:ext uri="{FF2B5EF4-FFF2-40B4-BE49-F238E27FC236}">
                <a16:creationId xmlns:a16="http://schemas.microsoft.com/office/drawing/2014/main" id="{67AE388D-292C-4B64-AF8C-D10B37CCFD8E}"/>
              </a:ext>
            </a:extLst>
          </p:cNvPr>
          <p:cNvSpPr>
            <a:spLocks xmlns:a="http://schemas.openxmlformats.org/drawingml/2006/main" noGrp="1"/>
          </p:cNvSpPr>
          <p:nvPr/>
        </p:nvSpPr>
        <p:spPr>
          <a:xfrm xmlns:a="http://schemas.openxmlformats.org/drawingml/2006/main">
            <a:off x="9315450" y="1257300"/>
            <a:ext cx="161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B6F04A"/>
                </a:solidFill>
              </a:defRPr>
            </a:pPr>
            <a:r>
              <a:rPr sz="4350" b="1">
                <a:solidFill>
                  <a:srgbClr val="B6F04A"/>
                </a:solidFill>
              </a:rPr>
              <a:t>12</a:t>
            </a:r>
          </a:p>
        </p:txBody>
      </p:sp>
      <p:sp>
        <p:nvSpPr>
          <p:cNvPr id="7" name="text">
            <a:extLst xmlns:a="http://schemas.openxmlformats.org/drawingml/2006/main">
              <a:ext uri="{FF2B5EF4-FFF2-40B4-BE49-F238E27FC236}">
                <a16:creationId xmlns:a16="http://schemas.microsoft.com/office/drawing/2014/main" id="{3FB57047-490B-495E-881D-2DAFB43A9CE9}"/>
              </a:ext>
            </a:extLst>
          </p:cNvPr>
          <p:cNvSpPr>
            <a:spLocks xmlns:a="http://schemas.openxmlformats.org/drawingml/2006/main" noGrp="1"/>
          </p:cNvSpPr>
          <p:nvPr/>
        </p:nvSpPr>
        <p:spPr>
          <a:xfrm xmlns:a="http://schemas.openxmlformats.org/drawingml/2006/main">
            <a:off x="9334500" y="19716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p xmlns:a="http://schemas.openxmlformats.org/drawingml/2006/main">
            <a:pPr algn="l">
              <a:defRPr sz="1200" b="1">
                <a:solidFill>
                  <a:srgbClr val="FFFFFF"/>
                </a:solidFill>
              </a:defRPr>
            </a:pPr>
            <a:r>
              <a:rPr sz="1200" b="1">
                <a:solidFill>
                  <a:srgbClr val="FFFFFF"/>
                </a:solidFill>
              </a:rPr>
              <a:t>EVENTS</a:t>
            </a:r>
          </a:p>
        </p:txBody>
      </p:sp>
      <p:sp>
        <p:nvSpPr>
          <p:cNvPr id="8" name="alerts">
            <a:extLst xmlns:a="http://schemas.openxmlformats.org/drawingml/2006/main">
              <a:ext uri="{FF2B5EF4-FFF2-40B4-BE49-F238E27FC236}">
                <a16:creationId xmlns:a16="http://schemas.microsoft.com/office/drawing/2014/main" id="{F5EFA0C2-D7CB-4816-8A1F-9AFE72C00870}"/>
              </a:ext>
            </a:extLst>
          </p:cNvPr>
          <p:cNvSpPr>
            <a:spLocks xmlns:a="http://schemas.openxmlformats.org/drawingml/2006/main" noGrp="1"/>
          </p:cNvSpPr>
          <p:nvPr/>
        </p:nvSpPr>
        <p:spPr>
          <a:xfrm xmlns:a="http://schemas.openxmlformats.org/drawingml/2006/main">
            <a:off x="9315450" y="2667000"/>
            <a:ext cx="161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FFFFFF"/>
                </a:solidFill>
              </a:defRPr>
            </a:pPr>
            <a:r>
              <a:rPr sz="4350" b="1">
                <a:solidFill>
                  <a:srgbClr val="FFFFFF"/>
                </a:solidFill>
              </a:rPr>
              <a:t>6</a:t>
            </a:r>
          </a:p>
        </p:txBody>
      </p:sp>
      <p:sp>
        <p:nvSpPr>
          <p:cNvPr id="9" name="text">
            <a:extLst xmlns:a="http://schemas.openxmlformats.org/drawingml/2006/main">
              <a:ext uri="{FF2B5EF4-FFF2-40B4-BE49-F238E27FC236}">
                <a16:creationId xmlns:a16="http://schemas.microsoft.com/office/drawing/2014/main" id="{E1B4DBE3-70B7-4AF5-A3FA-24E5400B773B}"/>
              </a:ext>
            </a:extLst>
          </p:cNvPr>
          <p:cNvSpPr>
            <a:spLocks xmlns:a="http://schemas.openxmlformats.org/drawingml/2006/main" noGrp="1"/>
          </p:cNvSpPr>
          <p:nvPr/>
        </p:nvSpPr>
        <p:spPr>
          <a:xfrm xmlns:a="http://schemas.openxmlformats.org/drawingml/2006/main">
            <a:off x="9334500" y="33813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p xmlns:a="http://schemas.openxmlformats.org/drawingml/2006/main">
            <a:pPr algn="l">
              <a:defRPr sz="1200" b="1">
                <a:solidFill>
                  <a:srgbClr val="B6F04A"/>
                </a:solidFill>
              </a:defRPr>
            </a:pPr>
            <a:r>
              <a:rPr sz="1200" b="1">
                <a:solidFill>
                  <a:srgbClr val="B6F04A"/>
                </a:solidFill>
              </a:rPr>
              <a:t>DETECTIONS</a:t>
            </a:r>
          </a:p>
        </p:txBody>
      </p:sp>
      <p:sp>
        <p:nvSpPr>
          <p:cNvPr id="10" name="critical">
            <a:extLst xmlns:a="http://schemas.openxmlformats.org/drawingml/2006/main">
              <a:ext uri="{FF2B5EF4-FFF2-40B4-BE49-F238E27FC236}">
                <a16:creationId xmlns:a16="http://schemas.microsoft.com/office/drawing/2014/main" id="{725CEC4B-F8A7-4139-876C-50794413B450}"/>
              </a:ext>
            </a:extLst>
          </p:cNvPr>
          <p:cNvSpPr>
            <a:spLocks xmlns:a="http://schemas.openxmlformats.org/drawingml/2006/main" noGrp="1"/>
          </p:cNvSpPr>
          <p:nvPr/>
        </p:nvSpPr>
        <p:spPr>
          <a:xfrm xmlns:a="http://schemas.openxmlformats.org/drawingml/2006/main">
            <a:off x="9315450" y="4076700"/>
            <a:ext cx="161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B6F04A"/>
                </a:solidFill>
              </a:defRPr>
            </a:pPr>
            <a:r>
              <a:rPr sz="4350" b="1">
                <a:solidFill>
                  <a:srgbClr val="B6F04A"/>
                </a:solidFill>
              </a:rPr>
              <a:t>3</a:t>
            </a:r>
          </a:p>
        </p:txBody>
      </p:sp>
      <p:sp>
        <p:nvSpPr>
          <p:cNvPr id="11" name="text">
            <a:extLst xmlns:a="http://schemas.openxmlformats.org/drawingml/2006/main">
              <a:ext uri="{FF2B5EF4-FFF2-40B4-BE49-F238E27FC236}">
                <a16:creationId xmlns:a16="http://schemas.microsoft.com/office/drawing/2014/main" id="{CFE28208-C9B9-4997-B145-0AAE613A1921}"/>
              </a:ext>
            </a:extLst>
          </p:cNvPr>
          <p:cNvSpPr>
            <a:spLocks xmlns:a="http://schemas.openxmlformats.org/drawingml/2006/main" noGrp="1"/>
          </p:cNvSpPr>
          <p:nvPr/>
        </p:nvSpPr>
        <p:spPr>
          <a:xfrm xmlns:a="http://schemas.openxmlformats.org/drawingml/2006/main">
            <a:off x="9334500" y="4791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p xmlns:a="http://schemas.openxmlformats.org/drawingml/2006/main">
            <a:pPr algn="l">
              <a:defRPr sz="1200" b="1">
                <a:solidFill>
                  <a:srgbClr val="FFFFFF"/>
                </a:solidFill>
              </a:defRPr>
            </a:pPr>
            <a:r>
              <a:rPr sz="1200" b="1">
                <a:solidFill>
                  <a:srgbClr val="FFFFFF"/>
                </a:solidFill>
              </a:rPr>
              <a:t>CRITICAL</a:t>
            </a:r>
          </a:p>
        </p:txBody>
      </p:sp>
      <p:sp>
        <p:nvSpPr>
          <p:cNvPr id="12" name="author">
            <a:extLst xmlns:a="http://schemas.openxmlformats.org/drawingml/2006/main">
              <a:ext uri="{FF2B5EF4-FFF2-40B4-BE49-F238E27FC236}">
                <a16:creationId xmlns:a16="http://schemas.microsoft.com/office/drawing/2014/main" id="{563CE53E-5803-49DB-ABE4-30349ED1483A}"/>
              </a:ext>
            </a:extLst>
          </p:cNvPr>
          <p:cNvSpPr>
            <a:spLocks xmlns:a="http://schemas.openxmlformats.org/drawingml/2006/main" noGrp="1"/>
          </p:cNvSpPr>
          <p:nvPr/>
        </p:nvSpPr>
        <p:spPr>
          <a:xfrm xmlns:a="http://schemas.openxmlformats.org/drawingml/2006/main">
            <a:off x="571500" y="6076950"/>
            <a:ext cx="723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defRPr sz="1200" b="1">
                <a:solidFill>
                  <a:srgbClr val="071A14"/>
                </a:solidFill>
              </a:defRPr>
            </a:pPr>
            <a:r>
              <a:rPr sz="1200" b="1">
                <a:solidFill>
                  <a:srgbClr val="071A14"/>
                </a:solidFill>
              </a:rPr>
              <a:t>Joel Manglin  •  Docker  •  Python  •  PowerShell  •  SPL</a:t>
            </a:r>
          </a:p>
        </p:txBody>
      </p:sp>
    </p:spTree>
    <p:extLst>
      <p:ext uri="{BB962C8B-B14F-4D97-AF65-F5344CB8AC3E}">
        <p14:creationId xmlns:p14="http://schemas.microsoft.com/office/powerpoint/2010/main" val="5512281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kicker">
            <a:extLst xmlns:a="http://schemas.openxmlformats.org/drawingml/2006/main">
              <a:ext uri="{FF2B5EF4-FFF2-40B4-BE49-F238E27FC236}">
                <a16:creationId xmlns:a16="http://schemas.microsoft.com/office/drawing/2014/main" id="{F61D7D63-F32B-4248-9808-B0D77A148C06}"/>
              </a:ext>
            </a:extLst>
          </p:cNvPr>
          <p:cNvSpPr>
            <a:spLocks xmlns:a="http://schemas.openxmlformats.org/drawingml/2006/main" noGrp="1"/>
          </p:cNvSpPr>
          <p:nvPr/>
        </p:nvSpPr>
        <p:spPr>
          <a:xfrm xmlns:a="http://schemas.openxmlformats.org/drawingml/2006/main">
            <a:off x="51435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6734D"/>
                </a:solidFill>
              </a:defRPr>
            </a:pPr>
            <a:r>
              <a:rPr sz="1050" b="1">
                <a:solidFill>
                  <a:srgbClr val="16734D"/>
                </a:solidFill>
              </a:rPr>
              <a:t>RECRUITER ALIGNMENT</a:t>
            </a:r>
          </a:p>
        </p:txBody>
      </p:sp>
      <p:sp>
        <p:nvSpPr>
          <p:cNvPr id="2" name="slide-title">
            <a:extLst xmlns:a="http://schemas.openxmlformats.org/drawingml/2006/main">
              <a:ext uri="{FF2B5EF4-FFF2-40B4-BE49-F238E27FC236}">
                <a16:creationId xmlns:a16="http://schemas.microsoft.com/office/drawing/2014/main" id="{FF238D78-7C3E-472A-B4A6-9122EEF8BEE6}"/>
              </a:ext>
            </a:extLst>
          </p:cNvPr>
          <p:cNvSpPr>
            <a:spLocks xmlns:a="http://schemas.openxmlformats.org/drawingml/2006/main" noGrp="1"/>
          </p:cNvSpPr>
          <p:nvPr/>
        </p:nvSpPr>
        <p:spPr>
          <a:xfrm xmlns:a="http://schemas.openxmlformats.org/drawingml/2006/main">
            <a:off x="514350" y="619125"/>
            <a:ext cx="11096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71A14"/>
                </a:solidFill>
              </a:defRPr>
            </a:pPr>
            <a:r>
              <a:rPr sz="3000" b="1">
                <a:solidFill>
                  <a:srgbClr val="071A14"/>
                </a:solidFill>
              </a:rPr>
              <a:t>The project mirrors the job’s core operating loop</a:t>
            </a:r>
          </a:p>
        </p:txBody>
      </p:sp>
      <p:sp>
        <p:nvSpPr>
          <p:cNvPr id="3" name="slide-number">
            <a:extLst xmlns:a="http://schemas.openxmlformats.org/drawingml/2006/main">
              <a:ext uri="{FF2B5EF4-FFF2-40B4-BE49-F238E27FC236}">
                <a16:creationId xmlns:a16="http://schemas.microsoft.com/office/drawing/2014/main" id="{CFA747FC-2DCF-48DE-9230-C9534ABD90F8}"/>
              </a:ext>
            </a:extLst>
          </p:cNvPr>
          <p:cNvSpPr>
            <a:spLocks xmlns:a="http://schemas.openxmlformats.org/drawingml/2006/main" noGrp="1"/>
          </p:cNvSpPr>
          <p:nvPr/>
        </p:nvSpPr>
        <p:spPr>
          <a:xfrm xmlns:a="http://schemas.openxmlformats.org/drawingml/2006/main">
            <a:off x="1118235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1716A"/>
                </a:solidFill>
              </a:defRPr>
            </a:pPr>
            <a:r>
              <a:rPr sz="900" b="0">
                <a:solidFill>
                  <a:srgbClr val="61716A"/>
                </a:solidFill>
              </a:rPr>
              <a:t>02</a:t>
            </a:r>
          </a:p>
        </p:txBody>
      </p:sp>
      <p:sp>
        <p:nvSpPr>
          <p:cNvPr id="4" name="footer">
            <a:extLst xmlns:a="http://schemas.openxmlformats.org/drawingml/2006/main">
              <a:ext uri="{FF2B5EF4-FFF2-40B4-BE49-F238E27FC236}">
                <a16:creationId xmlns:a16="http://schemas.microsoft.com/office/drawing/2014/main" id="{BB05E91F-DE70-494F-88BD-27C83E791FA6}"/>
              </a:ext>
            </a:extLst>
          </p:cNvPr>
          <p:cNvSpPr>
            <a:spLocks xmlns:a="http://schemas.openxmlformats.org/drawingml/2006/main" noGrp="1"/>
          </p:cNvSpPr>
          <p:nvPr/>
        </p:nvSpPr>
        <p:spPr>
          <a:xfrm xmlns:a="http://schemas.openxmlformats.org/drawingml/2006/main">
            <a:off x="514350" y="63627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61716A"/>
                </a:solidFill>
              </a:defRPr>
            </a:pPr>
            <a:r>
              <a:rPr sz="900" b="1">
                <a:solidFill>
                  <a:srgbClr val="61716A"/>
                </a:solidFill>
              </a:rPr>
              <a:t>SIGNALFORGE SOC LAB</a:t>
            </a:r>
          </a:p>
        </p:txBody>
      </p:sp>
      <p:sp>
        <p:nvSpPr>
          <p:cNvPr id="5" name="text">
            <a:extLst xmlns:a="http://schemas.openxmlformats.org/drawingml/2006/main">
              <a:ext uri="{FF2B5EF4-FFF2-40B4-BE49-F238E27FC236}">
                <a16:creationId xmlns:a16="http://schemas.microsoft.com/office/drawing/2014/main" id="{84C8486E-0DAE-4EFE-8E6F-05573D3715E9}"/>
              </a:ext>
            </a:extLst>
          </p:cNvPr>
          <p:cNvSpPr>
            <a:spLocks xmlns:a="http://schemas.openxmlformats.org/drawingml/2006/main" noGrp="1"/>
          </p:cNvSpPr>
          <p:nvPr/>
        </p:nvSpPr>
        <p:spPr>
          <a:xfrm xmlns:a="http://schemas.openxmlformats.org/drawingml/2006/main">
            <a:off x="609600" y="1504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6734D"/>
                </a:solidFill>
              </a:defRPr>
            </a:pPr>
            <a:r>
              <a:rPr sz="1200" b="1">
                <a:solidFill>
                  <a:srgbClr val="16734D"/>
                </a:solidFill>
              </a:rPr>
              <a:t>ROLE EXPECTATION</a:t>
            </a:r>
          </a:p>
        </p:txBody>
      </p:sp>
      <p:sp>
        <p:nvSpPr>
          <p:cNvPr id="6" name="text">
            <a:extLst xmlns:a="http://schemas.openxmlformats.org/drawingml/2006/main">
              <a:ext uri="{FF2B5EF4-FFF2-40B4-BE49-F238E27FC236}">
                <a16:creationId xmlns:a16="http://schemas.microsoft.com/office/drawing/2014/main" id="{EE25528C-FA60-42FD-88C6-88C4EB0FCA06}"/>
              </a:ext>
            </a:extLst>
          </p:cNvPr>
          <p:cNvSpPr>
            <a:spLocks xmlns:a="http://schemas.openxmlformats.org/drawingml/2006/main" noGrp="1"/>
          </p:cNvSpPr>
          <p:nvPr/>
        </p:nvSpPr>
        <p:spPr>
          <a:xfrm xmlns:a="http://schemas.openxmlformats.org/drawingml/2006/main">
            <a:off x="4333875" y="150495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6734D"/>
                </a:solidFill>
              </a:defRPr>
            </a:pPr>
            <a:r>
              <a:rPr sz="1200" b="1">
                <a:solidFill>
                  <a:srgbClr val="16734D"/>
                </a:solidFill>
              </a:rPr>
              <a:t>PROJECT EVIDENCE</a:t>
            </a:r>
          </a:p>
        </p:txBody>
      </p:sp>
      <p:cxnSp>
        <p:nvCxnSpPr>
          <p:cNvPr id="26" name=""/>
          <p:cNvCxnSpPr/>
          <p:nvPr/>
        </p:nvCxnSpPr>
        <p:spPr>
          <a:xfrm xmlns:a="http://schemas.openxmlformats.org/drawingml/2006/main">
            <a:off x="609600" y="1866900"/>
            <a:ext cx="10287000" cy="0"/>
          </a:xfrm>
          <a:prstGeom xmlns:a="http://schemas.openxmlformats.org/drawingml/2006/main" prst="straightConnector1">
            <a:avLst/>
          </a:prstGeom>
          <a:ln xmlns:a="http://schemas.openxmlformats.org/drawingml/2006/main" w="19050">
            <a:solidFill>
              <a:srgbClr val="BCC9C3"/>
            </a:solidFill>
            <a:prstDash val="solid"/>
          </a:ln>
        </p:spPr>
      </p:cxnSp>
      <p:sp>
        <p:nvSpPr>
          <p:cNvPr id="8" name="expectation-0">
            <a:extLst xmlns:a="http://schemas.openxmlformats.org/drawingml/2006/main">
              <a:ext uri="{FF2B5EF4-FFF2-40B4-BE49-F238E27FC236}">
                <a16:creationId xmlns:a16="http://schemas.microsoft.com/office/drawing/2014/main" id="{13206927-BDB4-483E-A16D-3477C6C7E05D}"/>
              </a:ext>
            </a:extLst>
          </p:cNvPr>
          <p:cNvSpPr>
            <a:spLocks xmlns:a="http://schemas.openxmlformats.org/drawingml/2006/main" noGrp="1"/>
          </p:cNvSpPr>
          <p:nvPr/>
        </p:nvSpPr>
        <p:spPr>
          <a:xfrm xmlns:a="http://schemas.openxmlformats.org/drawingml/2006/main">
            <a:off x="609600" y="20478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71A14"/>
                </a:solidFill>
              </a:defRPr>
            </a:pPr>
            <a:r>
              <a:rPr sz="1575" b="1">
                <a:solidFill>
                  <a:srgbClr val="071A14"/>
                </a:solidFill>
              </a:rPr>
              <a:t>Advanced SOC triage</a:t>
            </a:r>
          </a:p>
        </p:txBody>
      </p:sp>
      <p:sp>
        <p:nvSpPr>
          <p:cNvPr id="9" name="evidence-0">
            <a:extLst xmlns:a="http://schemas.openxmlformats.org/drawingml/2006/main">
              <a:ext uri="{FF2B5EF4-FFF2-40B4-BE49-F238E27FC236}">
                <a16:creationId xmlns:a16="http://schemas.microsoft.com/office/drawing/2014/main" id="{3742211D-6DB0-4D74-B091-732ECCD22389}"/>
              </a:ext>
            </a:extLst>
          </p:cNvPr>
          <p:cNvSpPr>
            <a:spLocks xmlns:a="http://schemas.openxmlformats.org/drawingml/2006/main" noGrp="1"/>
          </p:cNvSpPr>
          <p:nvPr/>
        </p:nvSpPr>
        <p:spPr>
          <a:xfrm xmlns:a="http://schemas.openxmlformats.org/drawingml/2006/main">
            <a:off x="4333875" y="2047875"/>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61716A"/>
                </a:solidFill>
              </a:defRPr>
            </a:pPr>
            <a:r>
              <a:rPr sz="1500" b="0">
                <a:solidFill>
                  <a:srgbClr val="61716A"/>
                </a:solidFill>
              </a:rPr>
              <a:t>Prioritized queue, severity, entity, MITRE context</a:t>
            </a:r>
          </a:p>
        </p:txBody>
      </p:sp>
      <p:sp>
        <p:nvSpPr>
          <p:cNvPr id="10" name="expectation-1">
            <a:extLst xmlns:a="http://schemas.openxmlformats.org/drawingml/2006/main">
              <a:ext uri="{FF2B5EF4-FFF2-40B4-BE49-F238E27FC236}">
                <a16:creationId xmlns:a16="http://schemas.microsoft.com/office/drawing/2014/main" id="{4494994A-1B9A-4268-B45B-4705A22103E9}"/>
              </a:ext>
            </a:extLst>
          </p:cNvPr>
          <p:cNvSpPr>
            <a:spLocks xmlns:a="http://schemas.openxmlformats.org/drawingml/2006/main" noGrp="1"/>
          </p:cNvSpPr>
          <p:nvPr/>
        </p:nvSpPr>
        <p:spPr>
          <a:xfrm xmlns:a="http://schemas.openxmlformats.org/drawingml/2006/main">
            <a:off x="609600" y="26955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71A14"/>
                </a:solidFill>
              </a:defRPr>
            </a:pPr>
            <a:r>
              <a:rPr sz="1575" b="1">
                <a:solidFill>
                  <a:srgbClr val="071A14"/>
                </a:solidFill>
              </a:rPr>
              <a:t>Splunk ES/Core</a:t>
            </a:r>
          </a:p>
        </p:txBody>
      </p:sp>
      <p:sp>
        <p:nvSpPr>
          <p:cNvPr id="11" name="evidence-1">
            <a:extLst xmlns:a="http://schemas.openxmlformats.org/drawingml/2006/main">
              <a:ext uri="{FF2B5EF4-FFF2-40B4-BE49-F238E27FC236}">
                <a16:creationId xmlns:a16="http://schemas.microsoft.com/office/drawing/2014/main" id="{B03FE64F-99E6-4473-8D80-A57835375794}"/>
              </a:ext>
            </a:extLst>
          </p:cNvPr>
          <p:cNvSpPr>
            <a:spLocks xmlns:a="http://schemas.openxmlformats.org/drawingml/2006/main" noGrp="1"/>
          </p:cNvSpPr>
          <p:nvPr/>
        </p:nvSpPr>
        <p:spPr>
          <a:xfrm xmlns:a="http://schemas.openxmlformats.org/drawingml/2006/main">
            <a:off x="4333875" y="2695575"/>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61716A"/>
                </a:solidFill>
              </a:defRPr>
            </a:pPr>
            <a:r>
              <a:rPr sz="1500" b="0">
                <a:solidFill>
                  <a:srgbClr val="61716A"/>
                </a:solidFill>
              </a:rPr>
              <a:t>Six production-style SPL searches plus a hunt</a:t>
            </a:r>
          </a:p>
        </p:txBody>
      </p:sp>
      <p:sp>
        <p:nvSpPr>
          <p:cNvPr id="12" name="expectation-2">
            <a:extLst xmlns:a="http://schemas.openxmlformats.org/drawingml/2006/main">
              <a:ext uri="{FF2B5EF4-FFF2-40B4-BE49-F238E27FC236}">
                <a16:creationId xmlns:a16="http://schemas.microsoft.com/office/drawing/2014/main" id="{7DA7D58F-0F6D-4475-A11C-519EC815C642}"/>
              </a:ext>
            </a:extLst>
          </p:cNvPr>
          <p:cNvSpPr>
            <a:spLocks xmlns:a="http://schemas.openxmlformats.org/drawingml/2006/main" noGrp="1"/>
          </p:cNvSpPr>
          <p:nvPr/>
        </p:nvSpPr>
        <p:spPr>
          <a:xfrm xmlns:a="http://schemas.openxmlformats.org/drawingml/2006/main">
            <a:off x="609600" y="33432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71A14"/>
                </a:solidFill>
              </a:defRPr>
            </a:pPr>
            <a:r>
              <a:rPr sz="1575" b="1">
                <a:solidFill>
                  <a:srgbClr val="071A14"/>
                </a:solidFill>
              </a:rPr>
              <a:t>Endpoint + email</a:t>
            </a:r>
          </a:p>
        </p:txBody>
      </p:sp>
      <p:sp>
        <p:nvSpPr>
          <p:cNvPr id="13" name="evidence-2">
            <a:extLst xmlns:a="http://schemas.openxmlformats.org/drawingml/2006/main">
              <a:ext uri="{FF2B5EF4-FFF2-40B4-BE49-F238E27FC236}">
                <a16:creationId xmlns:a16="http://schemas.microsoft.com/office/drawing/2014/main" id="{AF9E9EA8-2190-4EB4-A950-407876BE29B5}"/>
              </a:ext>
            </a:extLst>
          </p:cNvPr>
          <p:cNvSpPr>
            <a:spLocks xmlns:a="http://schemas.openxmlformats.org/drawingml/2006/main" noGrp="1"/>
          </p:cNvSpPr>
          <p:nvPr/>
        </p:nvSpPr>
        <p:spPr>
          <a:xfrm xmlns:a="http://schemas.openxmlformats.org/drawingml/2006/main">
            <a:off x="4333875" y="3343275"/>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61716A"/>
                </a:solidFill>
              </a:defRPr>
            </a:pPr>
            <a:r>
              <a:rPr sz="1500" b="0">
                <a:solidFill>
                  <a:srgbClr val="61716A"/>
                </a:solidFill>
              </a:rPr>
              <a:t>CrowdStrike- and Proofpoint-shaped events</a:t>
            </a:r>
          </a:p>
        </p:txBody>
      </p:sp>
      <p:sp>
        <p:nvSpPr>
          <p:cNvPr id="14" name="expectation-3">
            <a:extLst xmlns:a="http://schemas.openxmlformats.org/drawingml/2006/main">
              <a:ext uri="{FF2B5EF4-FFF2-40B4-BE49-F238E27FC236}">
                <a16:creationId xmlns:a16="http://schemas.microsoft.com/office/drawing/2014/main" id="{03F1C03E-1044-44D6-9F61-95C484B4393B}"/>
              </a:ext>
            </a:extLst>
          </p:cNvPr>
          <p:cNvSpPr>
            <a:spLocks xmlns:a="http://schemas.openxmlformats.org/drawingml/2006/main" noGrp="1"/>
          </p:cNvSpPr>
          <p:nvPr/>
        </p:nvSpPr>
        <p:spPr>
          <a:xfrm xmlns:a="http://schemas.openxmlformats.org/drawingml/2006/main">
            <a:off x="609600" y="39909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71A14"/>
                </a:solidFill>
              </a:defRPr>
            </a:pPr>
            <a:r>
              <a:rPr sz="1575" b="1">
                <a:solidFill>
                  <a:srgbClr val="071A14"/>
                </a:solidFill>
              </a:rPr>
              <a:t>Cloud + web</a:t>
            </a:r>
          </a:p>
        </p:txBody>
      </p:sp>
      <p:sp>
        <p:nvSpPr>
          <p:cNvPr id="15" name="evidence-3">
            <a:extLst xmlns:a="http://schemas.openxmlformats.org/drawingml/2006/main">
              <a:ext uri="{FF2B5EF4-FFF2-40B4-BE49-F238E27FC236}">
                <a16:creationId xmlns:a16="http://schemas.microsoft.com/office/drawing/2014/main" id="{4CB2221D-1903-4453-8C6B-7AD055B14925}"/>
              </a:ext>
            </a:extLst>
          </p:cNvPr>
          <p:cNvSpPr>
            <a:spLocks xmlns:a="http://schemas.openxmlformats.org/drawingml/2006/main" noGrp="1"/>
          </p:cNvSpPr>
          <p:nvPr/>
        </p:nvSpPr>
        <p:spPr>
          <a:xfrm xmlns:a="http://schemas.openxmlformats.org/drawingml/2006/main">
            <a:off x="4333875" y="3990975"/>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61716A"/>
                </a:solidFill>
              </a:defRPr>
            </a:pPr>
            <a:r>
              <a:rPr sz="1500" b="0">
                <a:solidFill>
                  <a:srgbClr val="61716A"/>
                </a:solidFill>
              </a:rPr>
              <a:t>Wiz exposure and Zscaler callback context</a:t>
            </a:r>
          </a:p>
        </p:txBody>
      </p:sp>
      <p:sp>
        <p:nvSpPr>
          <p:cNvPr id="16" name="expectation-4">
            <a:extLst xmlns:a="http://schemas.openxmlformats.org/drawingml/2006/main">
              <a:ext uri="{FF2B5EF4-FFF2-40B4-BE49-F238E27FC236}">
                <a16:creationId xmlns:a16="http://schemas.microsoft.com/office/drawing/2014/main" id="{EB0AB071-831A-4496-967C-F47FA0D3DF79}"/>
              </a:ext>
            </a:extLst>
          </p:cNvPr>
          <p:cNvSpPr>
            <a:spLocks xmlns:a="http://schemas.openxmlformats.org/drawingml/2006/main" noGrp="1"/>
          </p:cNvSpPr>
          <p:nvPr/>
        </p:nvSpPr>
        <p:spPr>
          <a:xfrm xmlns:a="http://schemas.openxmlformats.org/drawingml/2006/main">
            <a:off x="609600" y="46386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71A14"/>
                </a:solidFill>
              </a:defRPr>
            </a:pPr>
            <a:r>
              <a:rPr sz="1575" b="1">
                <a:solidFill>
                  <a:srgbClr val="071A14"/>
                </a:solidFill>
              </a:rPr>
              <a:t>Automation</a:t>
            </a:r>
          </a:p>
        </p:txBody>
      </p:sp>
      <p:sp>
        <p:nvSpPr>
          <p:cNvPr id="17" name="evidence-4">
            <a:extLst xmlns:a="http://schemas.openxmlformats.org/drawingml/2006/main">
              <a:ext uri="{FF2B5EF4-FFF2-40B4-BE49-F238E27FC236}">
                <a16:creationId xmlns:a16="http://schemas.microsoft.com/office/drawing/2014/main" id="{9F902189-8FBB-4C1D-94D9-7A1D6D94A0B8}"/>
              </a:ext>
            </a:extLst>
          </p:cNvPr>
          <p:cNvSpPr>
            <a:spLocks xmlns:a="http://schemas.openxmlformats.org/drawingml/2006/main" noGrp="1"/>
          </p:cNvSpPr>
          <p:nvPr/>
        </p:nvSpPr>
        <p:spPr>
          <a:xfrm xmlns:a="http://schemas.openxmlformats.org/drawingml/2006/main">
            <a:off x="4333875" y="4638675"/>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61716A"/>
                </a:solidFill>
              </a:defRPr>
            </a:pPr>
            <a:r>
              <a:rPr sz="1500" b="0">
                <a:solidFill>
                  <a:srgbClr val="61716A"/>
                </a:solidFill>
              </a:rPr>
              <a:t>Python validation and PowerShell incident export</a:t>
            </a:r>
          </a:p>
        </p:txBody>
      </p:sp>
      <p:sp>
        <p:nvSpPr>
          <p:cNvPr id="18" name="expectation-5">
            <a:extLst xmlns:a="http://schemas.openxmlformats.org/drawingml/2006/main">
              <a:ext uri="{FF2B5EF4-FFF2-40B4-BE49-F238E27FC236}">
                <a16:creationId xmlns:a16="http://schemas.microsoft.com/office/drawing/2014/main" id="{18A75472-8F2C-4B6D-A7DD-A0B7F49F764B}"/>
              </a:ext>
            </a:extLst>
          </p:cNvPr>
          <p:cNvSpPr>
            <a:spLocks xmlns:a="http://schemas.openxmlformats.org/drawingml/2006/main" noGrp="1"/>
          </p:cNvSpPr>
          <p:nvPr/>
        </p:nvSpPr>
        <p:spPr>
          <a:xfrm xmlns:a="http://schemas.openxmlformats.org/drawingml/2006/main">
            <a:off x="609600" y="52863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71A14"/>
                </a:solidFill>
              </a:defRPr>
            </a:pPr>
            <a:r>
              <a:rPr sz="1575" b="1">
                <a:solidFill>
                  <a:srgbClr val="071A14"/>
                </a:solidFill>
              </a:rPr>
              <a:t>Continuous improvement</a:t>
            </a:r>
          </a:p>
        </p:txBody>
      </p:sp>
      <p:sp>
        <p:nvSpPr>
          <p:cNvPr id="19" name="evidence-5">
            <a:extLst xmlns:a="http://schemas.openxmlformats.org/drawingml/2006/main">
              <a:ext uri="{FF2B5EF4-FFF2-40B4-BE49-F238E27FC236}">
                <a16:creationId xmlns:a16="http://schemas.microsoft.com/office/drawing/2014/main" id="{CCF234CE-CC4C-438B-B685-010820831E5F}"/>
              </a:ext>
            </a:extLst>
          </p:cNvPr>
          <p:cNvSpPr>
            <a:spLocks xmlns:a="http://schemas.openxmlformats.org/drawingml/2006/main" noGrp="1"/>
          </p:cNvSpPr>
          <p:nvPr/>
        </p:nvSpPr>
        <p:spPr>
          <a:xfrm xmlns:a="http://schemas.openxmlformats.org/drawingml/2006/main">
            <a:off x="4333875" y="5286375"/>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61716A"/>
                </a:solidFill>
              </a:defRPr>
            </a:pPr>
            <a:r>
              <a:rPr sz="1500" b="0">
                <a:solidFill>
                  <a:srgbClr val="61716A"/>
                </a:solidFill>
              </a:rPr>
              <a:t>Tuning guidance, tests, CI, troubleshooting record</a:t>
            </a:r>
          </a:p>
        </p:txBody>
      </p:sp>
    </p:spTree>
    <p:extLst>
      <p:ext uri="{BB962C8B-B14F-4D97-AF65-F5344CB8AC3E}">
        <p14:creationId xmlns:p14="http://schemas.microsoft.com/office/powerpoint/2010/main" val="1294531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kicker">
            <a:extLst xmlns:a="http://schemas.openxmlformats.org/drawingml/2006/main">
              <a:ext uri="{FF2B5EF4-FFF2-40B4-BE49-F238E27FC236}">
                <a16:creationId xmlns:a16="http://schemas.microsoft.com/office/drawing/2014/main" id="{840D0893-1872-4CD7-AD73-99C6559BDDCD}"/>
              </a:ext>
            </a:extLst>
          </p:cNvPr>
          <p:cNvSpPr>
            <a:spLocks xmlns:a="http://schemas.openxmlformats.org/drawingml/2006/main" noGrp="1"/>
          </p:cNvSpPr>
          <p:nvPr/>
        </p:nvSpPr>
        <p:spPr>
          <a:xfrm xmlns:a="http://schemas.openxmlformats.org/drawingml/2006/main">
            <a:off x="51435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6734D"/>
                </a:solidFill>
              </a:defRPr>
            </a:pPr>
            <a:r>
              <a:rPr sz="1050" b="1">
                <a:solidFill>
                  <a:srgbClr val="16734D"/>
                </a:solidFill>
              </a:rPr>
              <a:t>ARCHITECTURE</a:t>
            </a:r>
          </a:p>
        </p:txBody>
      </p:sp>
      <p:sp>
        <p:nvSpPr>
          <p:cNvPr id="2" name="slide-title">
            <a:extLst xmlns:a="http://schemas.openxmlformats.org/drawingml/2006/main">
              <a:ext uri="{FF2B5EF4-FFF2-40B4-BE49-F238E27FC236}">
                <a16:creationId xmlns:a16="http://schemas.microsoft.com/office/drawing/2014/main" id="{44362A31-630A-4ABF-9FB8-4DADD75CD807}"/>
              </a:ext>
            </a:extLst>
          </p:cNvPr>
          <p:cNvSpPr>
            <a:spLocks xmlns:a="http://schemas.openxmlformats.org/drawingml/2006/main" noGrp="1"/>
          </p:cNvSpPr>
          <p:nvPr/>
        </p:nvSpPr>
        <p:spPr>
          <a:xfrm xmlns:a="http://schemas.openxmlformats.org/drawingml/2006/main">
            <a:off x="514350" y="619125"/>
            <a:ext cx="11096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71A14"/>
                </a:solidFill>
              </a:defRPr>
            </a:pPr>
            <a:r>
              <a:rPr sz="3000" b="1">
                <a:solidFill>
                  <a:srgbClr val="071A14"/>
                </a:solidFill>
              </a:rPr>
              <a:t>Telemetry becomes evidence through a deliberately small pipeline</a:t>
            </a:r>
          </a:p>
        </p:txBody>
      </p:sp>
      <p:sp>
        <p:nvSpPr>
          <p:cNvPr id="3" name="slide-number">
            <a:extLst xmlns:a="http://schemas.openxmlformats.org/drawingml/2006/main">
              <a:ext uri="{FF2B5EF4-FFF2-40B4-BE49-F238E27FC236}">
                <a16:creationId xmlns:a16="http://schemas.microsoft.com/office/drawing/2014/main" id="{7E8EBA6A-CC25-4FCE-A255-40AB6265B1C7}"/>
              </a:ext>
            </a:extLst>
          </p:cNvPr>
          <p:cNvSpPr>
            <a:spLocks xmlns:a="http://schemas.openxmlformats.org/drawingml/2006/main" noGrp="1"/>
          </p:cNvSpPr>
          <p:nvPr/>
        </p:nvSpPr>
        <p:spPr>
          <a:xfrm xmlns:a="http://schemas.openxmlformats.org/drawingml/2006/main">
            <a:off x="1118235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1716A"/>
                </a:solidFill>
              </a:defRPr>
            </a:pPr>
            <a:r>
              <a:rPr sz="900" b="0">
                <a:solidFill>
                  <a:srgbClr val="61716A"/>
                </a:solidFill>
              </a:rPr>
              <a:t>03</a:t>
            </a:r>
          </a:p>
        </p:txBody>
      </p:sp>
      <p:sp>
        <p:nvSpPr>
          <p:cNvPr id="4" name="footer">
            <a:extLst xmlns:a="http://schemas.openxmlformats.org/drawingml/2006/main">
              <a:ext uri="{FF2B5EF4-FFF2-40B4-BE49-F238E27FC236}">
                <a16:creationId xmlns:a16="http://schemas.microsoft.com/office/drawing/2014/main" id="{0E71352D-C84D-4EEE-B2E0-C2ADBD789C8B}"/>
              </a:ext>
            </a:extLst>
          </p:cNvPr>
          <p:cNvSpPr>
            <a:spLocks xmlns:a="http://schemas.openxmlformats.org/drawingml/2006/main" noGrp="1"/>
          </p:cNvSpPr>
          <p:nvPr/>
        </p:nvSpPr>
        <p:spPr>
          <a:xfrm xmlns:a="http://schemas.openxmlformats.org/drawingml/2006/main">
            <a:off x="514350" y="63627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61716A"/>
                </a:solidFill>
              </a:defRPr>
            </a:pPr>
            <a:r>
              <a:rPr sz="900" b="1">
                <a:solidFill>
                  <a:srgbClr val="61716A"/>
                </a:solidFill>
              </a:rPr>
              <a:t>SIGNALFORGE SOC LAB</a:t>
            </a:r>
          </a:p>
        </p:txBody>
      </p:sp>
      <p:sp>
        <p:nvSpPr>
          <p:cNvPr id="5" name="">
            <a:extLst xmlns:a="http://schemas.openxmlformats.org/drawingml/2006/main">
              <a:ext uri="{FF2B5EF4-FFF2-40B4-BE49-F238E27FC236}">
                <a16:creationId xmlns:a16="http://schemas.microsoft.com/office/drawing/2014/main" id="{0C2102C5-B11C-4C9E-805F-418F8D9E60C6}"/>
              </a:ext>
            </a:extLst>
          </p:cNvPr>
          <p:cNvSpPr>
            <a:spLocks xmlns:a="http://schemas.openxmlformats.org/drawingml/2006/main" noGrp="1"/>
          </p:cNvSpPr>
          <p:nvPr/>
        </p:nvSpPr>
        <p:spPr>
          <a:xfrm xmlns:a="http://schemas.openxmlformats.org/drawingml/2006/main">
            <a:off x="2190750" y="3238500"/>
            <a:ext cx="666750" cy="285750"/>
          </a:xfrm>
          <a:prstGeom xmlns:a="http://schemas.openxmlformats.org/drawingml/2006/main" prst="rightArrow">
            <a:avLst/>
          </a:prstGeom>
          <a:solidFill xmlns:a="http://schemas.openxmlformats.org/drawingml/2006/main">
            <a:srgbClr val="B6F04A"/>
          </a:solidFill>
          <a:ln xmlns:a="http://schemas.openxmlformats.org/drawingml/2006/main" w="0">
            <a:solidFill>
              <a:srgbClr val="B6F04A"/>
            </a:solidFill>
            <a:prstDash val="solid"/>
          </a:ln>
        </p:spPr>
      </p:sp>
      <p:sp>
        <p:nvSpPr>
          <p:cNvPr id="6" name="">
            <a:extLst xmlns:a="http://schemas.openxmlformats.org/drawingml/2006/main">
              <a:ext uri="{FF2B5EF4-FFF2-40B4-BE49-F238E27FC236}">
                <a16:creationId xmlns:a16="http://schemas.microsoft.com/office/drawing/2014/main" id="{CF5D9D3F-1739-4D33-BBC3-491B95A4BF0A}"/>
              </a:ext>
            </a:extLst>
          </p:cNvPr>
          <p:cNvSpPr>
            <a:spLocks xmlns:a="http://schemas.openxmlformats.org/drawingml/2006/main" noGrp="1"/>
          </p:cNvSpPr>
          <p:nvPr/>
        </p:nvSpPr>
        <p:spPr>
          <a:xfrm xmlns:a="http://schemas.openxmlformats.org/drawingml/2006/main">
            <a:off x="4572000" y="3238500"/>
            <a:ext cx="666750" cy="285750"/>
          </a:xfrm>
          <a:prstGeom xmlns:a="http://schemas.openxmlformats.org/drawingml/2006/main" prst="rightArrow">
            <a:avLst/>
          </a:prstGeom>
          <a:solidFill xmlns:a="http://schemas.openxmlformats.org/drawingml/2006/main">
            <a:srgbClr val="B6F04A"/>
          </a:solidFill>
          <a:ln xmlns:a="http://schemas.openxmlformats.org/drawingml/2006/main" w="0">
            <a:solidFill>
              <a:srgbClr val="B6F04A"/>
            </a:solidFill>
            <a:prstDash val="solid"/>
          </a:ln>
        </p:spPr>
      </p:sp>
      <p:sp>
        <p:nvSpPr>
          <p:cNvPr id="7" name="">
            <a:extLst xmlns:a="http://schemas.openxmlformats.org/drawingml/2006/main">
              <a:ext uri="{FF2B5EF4-FFF2-40B4-BE49-F238E27FC236}">
                <a16:creationId xmlns:a16="http://schemas.microsoft.com/office/drawing/2014/main" id="{74A1BFF3-7F42-4D09-B751-6B9C68C8FEDE}"/>
              </a:ext>
            </a:extLst>
          </p:cNvPr>
          <p:cNvSpPr>
            <a:spLocks xmlns:a="http://schemas.openxmlformats.org/drawingml/2006/main" noGrp="1"/>
          </p:cNvSpPr>
          <p:nvPr/>
        </p:nvSpPr>
        <p:spPr>
          <a:xfrm xmlns:a="http://schemas.openxmlformats.org/drawingml/2006/main">
            <a:off x="6953250" y="3238500"/>
            <a:ext cx="666750" cy="285750"/>
          </a:xfrm>
          <a:prstGeom xmlns:a="http://schemas.openxmlformats.org/drawingml/2006/main" prst="rightArrow">
            <a:avLst/>
          </a:prstGeom>
          <a:solidFill xmlns:a="http://schemas.openxmlformats.org/drawingml/2006/main">
            <a:srgbClr val="B6F04A"/>
          </a:solidFill>
          <a:ln xmlns:a="http://schemas.openxmlformats.org/drawingml/2006/main" w="0">
            <a:solidFill>
              <a:srgbClr val="B6F04A"/>
            </a:solidFill>
            <a:prstDash val="solid"/>
          </a:ln>
        </p:spPr>
      </p:sp>
      <p:sp>
        <p:nvSpPr>
          <p:cNvPr id="8" name="">
            <a:extLst xmlns:a="http://schemas.openxmlformats.org/drawingml/2006/main">
              <a:ext uri="{FF2B5EF4-FFF2-40B4-BE49-F238E27FC236}">
                <a16:creationId xmlns:a16="http://schemas.microsoft.com/office/drawing/2014/main" id="{DC9F50A4-34B5-4BF5-8FC6-70519CAEA53A}"/>
              </a:ext>
            </a:extLst>
          </p:cNvPr>
          <p:cNvSpPr>
            <a:spLocks xmlns:a="http://schemas.openxmlformats.org/drawingml/2006/main" noGrp="1"/>
          </p:cNvSpPr>
          <p:nvPr/>
        </p:nvSpPr>
        <p:spPr>
          <a:xfrm xmlns:a="http://schemas.openxmlformats.org/drawingml/2006/main">
            <a:off x="9334500" y="3238500"/>
            <a:ext cx="666750" cy="285750"/>
          </a:xfrm>
          <a:prstGeom xmlns:a="http://schemas.openxmlformats.org/drawingml/2006/main" prst="rightArrow">
            <a:avLst/>
          </a:prstGeom>
          <a:solidFill xmlns:a="http://schemas.openxmlformats.org/drawingml/2006/main">
            <a:srgbClr val="B6F04A"/>
          </a:solidFill>
          <a:ln xmlns:a="http://schemas.openxmlformats.org/drawingml/2006/main" w="0">
            <a:solidFill>
              <a:srgbClr val="B6F04A"/>
            </a:solidFill>
            <a:prstDash val="solid"/>
          </a:ln>
        </p:spPr>
      </p:sp>
      <p:sp>
        <p:nvSpPr>
          <p:cNvPr id="9" name="node-0">
            <a:extLst xmlns:a="http://schemas.openxmlformats.org/drawingml/2006/main">
              <a:ext uri="{FF2B5EF4-FFF2-40B4-BE49-F238E27FC236}">
                <a16:creationId xmlns:a16="http://schemas.microsoft.com/office/drawing/2014/main" id="{72250D61-83B4-4F01-B755-1BC5306F33A7}"/>
              </a:ext>
            </a:extLst>
          </p:cNvPr>
          <p:cNvSpPr>
            <a:spLocks xmlns:a="http://schemas.openxmlformats.org/drawingml/2006/main" noGrp="1"/>
          </p:cNvSpPr>
          <p:nvPr/>
        </p:nvSpPr>
        <p:spPr>
          <a:xfrm xmlns:a="http://schemas.openxmlformats.org/drawingml/2006/main">
            <a:off x="666750" y="2781300"/>
            <a:ext cx="1571625" cy="1524000"/>
          </a:xfrm>
          <a:prstGeom xmlns:a="http://schemas.openxmlformats.org/drawingml/2006/main" prst="roundRect">
            <a:avLst>
              <a:gd name="adj" fmla="val 7500"/>
            </a:avLst>
          </a:prstGeom>
          <a:solidFill xmlns:a="http://schemas.openxmlformats.org/drawingml/2006/main">
            <a:srgbClr val="EDF2F0"/>
          </a:solidFill>
          <a:ln xmlns:a="http://schemas.openxmlformats.org/drawingml/2006/main" w="9525">
            <a:solidFill>
              <a:srgbClr val="BCC9C3"/>
            </a:solidFill>
            <a:prstDash val="solid"/>
          </a:ln>
        </p:spPr>
      </p:sp>
      <p:sp>
        <p:nvSpPr>
          <p:cNvPr id="10" name="node-title-0">
            <a:extLst xmlns:a="http://schemas.openxmlformats.org/drawingml/2006/main">
              <a:ext uri="{FF2B5EF4-FFF2-40B4-BE49-F238E27FC236}">
                <a16:creationId xmlns:a16="http://schemas.microsoft.com/office/drawing/2014/main" id="{9B1752F5-F864-4D6B-8D5F-FEFA39A4EC1E}"/>
              </a:ext>
            </a:extLst>
          </p:cNvPr>
          <p:cNvSpPr>
            <a:spLocks xmlns:a="http://schemas.openxmlformats.org/drawingml/2006/main" noGrp="1"/>
          </p:cNvSpPr>
          <p:nvPr/>
        </p:nvSpPr>
        <p:spPr>
          <a:xfrm xmlns:a="http://schemas.openxmlformats.org/drawingml/2006/main">
            <a:off x="800100" y="2943225"/>
            <a:ext cx="1304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737"/>
          </a:bodyPr>
          <a:lstStyle xmlns:a="http://schemas.openxmlformats.org/drawingml/2006/main"/>
          <a:p xmlns:a="http://schemas.openxmlformats.org/drawingml/2006/main">
            <a:pPr algn="ctr">
              <a:defRPr sz="1500" b="1">
                <a:solidFill>
                  <a:srgbClr val="071A14"/>
                </a:solidFill>
              </a:defRPr>
            </a:pPr>
            <a:r>
              <a:rPr sz="1500" b="1">
                <a:solidFill>
                  <a:srgbClr val="071A14"/>
                </a:solidFill>
              </a:rPr>
              <a:t>Synthetic sources</a:t>
            </a:r>
          </a:p>
        </p:txBody>
      </p:sp>
      <p:sp>
        <p:nvSpPr>
          <p:cNvPr id="11" name="node-body-0">
            <a:extLst xmlns:a="http://schemas.openxmlformats.org/drawingml/2006/main">
              <a:ext uri="{FF2B5EF4-FFF2-40B4-BE49-F238E27FC236}">
                <a16:creationId xmlns:a16="http://schemas.microsoft.com/office/drawing/2014/main" id="{25CD300D-6908-4554-9F3F-0757255307D7}"/>
              </a:ext>
            </a:extLst>
          </p:cNvPr>
          <p:cNvSpPr>
            <a:spLocks xmlns:a="http://schemas.openxmlformats.org/drawingml/2006/main" noGrp="1"/>
          </p:cNvSpPr>
          <p:nvPr/>
        </p:nvSpPr>
        <p:spPr>
          <a:xfrm xmlns:a="http://schemas.openxmlformats.org/drawingml/2006/main">
            <a:off x="800100" y="34099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1716A"/>
                </a:solidFill>
              </a:defRPr>
            </a:pPr>
            <a:r>
              <a:rPr sz="1275" b="0">
                <a:solidFill>
                  <a:srgbClr val="61716A"/>
                </a:solidFill>
              </a:rPr>
              <a:t>CrowdStrike</a:t>
            </a:r>
          </a:p>
          <a:p xmlns:a="http://schemas.openxmlformats.org/drawingml/2006/main">
            <a:pPr algn="ctr">
              <a:defRPr sz="1275" b="0">
                <a:solidFill>
                  <a:srgbClr val="61716A"/>
                </a:solidFill>
              </a:defRPr>
            </a:pPr>
            <a:r>
              <a:rPr sz="1275" b="0">
                <a:solidFill>
                  <a:srgbClr val="61716A"/>
                </a:solidFill>
              </a:rPr>
              <a:t>Proofpoint</a:t>
            </a:r>
          </a:p>
          <a:p xmlns:a="http://schemas.openxmlformats.org/drawingml/2006/main">
            <a:pPr algn="ctr">
              <a:defRPr sz="1275" b="0">
                <a:solidFill>
                  <a:srgbClr val="61716A"/>
                </a:solidFill>
              </a:defRPr>
            </a:pPr>
            <a:r>
              <a:rPr sz="1275" b="0">
                <a:solidFill>
                  <a:srgbClr val="61716A"/>
                </a:solidFill>
              </a:rPr>
              <a:t>Wiz • Zscaler</a:t>
            </a:r>
          </a:p>
        </p:txBody>
      </p:sp>
      <p:sp>
        <p:nvSpPr>
          <p:cNvPr id="12" name="node-1">
            <a:extLst xmlns:a="http://schemas.openxmlformats.org/drawingml/2006/main">
              <a:ext uri="{FF2B5EF4-FFF2-40B4-BE49-F238E27FC236}">
                <a16:creationId xmlns:a16="http://schemas.microsoft.com/office/drawing/2014/main" id="{D22D30FC-9EF0-46E0-B24E-BE7EA6E2CBB3}"/>
              </a:ext>
            </a:extLst>
          </p:cNvPr>
          <p:cNvSpPr>
            <a:spLocks xmlns:a="http://schemas.openxmlformats.org/drawingml/2006/main" noGrp="1"/>
          </p:cNvSpPr>
          <p:nvPr/>
        </p:nvSpPr>
        <p:spPr>
          <a:xfrm xmlns:a="http://schemas.openxmlformats.org/drawingml/2006/main">
            <a:off x="3048000" y="2781300"/>
            <a:ext cx="1571625" cy="1524000"/>
          </a:xfrm>
          <a:prstGeom xmlns:a="http://schemas.openxmlformats.org/drawingml/2006/main" prst="roundRect">
            <a:avLst>
              <a:gd name="adj" fmla="val 7500"/>
            </a:avLst>
          </a:prstGeom>
          <a:solidFill xmlns:a="http://schemas.openxmlformats.org/drawingml/2006/main">
            <a:srgbClr val="EDF2F0"/>
          </a:solidFill>
          <a:ln xmlns:a="http://schemas.openxmlformats.org/drawingml/2006/main" w="9525">
            <a:solidFill>
              <a:srgbClr val="BCC9C3"/>
            </a:solidFill>
            <a:prstDash val="solid"/>
          </a:ln>
        </p:spPr>
      </p:sp>
      <p:sp>
        <p:nvSpPr>
          <p:cNvPr id="13" name="node-title-1">
            <a:extLst xmlns:a="http://schemas.openxmlformats.org/drawingml/2006/main">
              <a:ext uri="{FF2B5EF4-FFF2-40B4-BE49-F238E27FC236}">
                <a16:creationId xmlns:a16="http://schemas.microsoft.com/office/drawing/2014/main" id="{7E8888EF-C5D5-4F39-B1CA-D09709973AFB}"/>
              </a:ext>
            </a:extLst>
          </p:cNvPr>
          <p:cNvSpPr>
            <a:spLocks xmlns:a="http://schemas.openxmlformats.org/drawingml/2006/main" noGrp="1"/>
          </p:cNvSpPr>
          <p:nvPr/>
        </p:nvSpPr>
        <p:spPr>
          <a:xfrm xmlns:a="http://schemas.openxmlformats.org/drawingml/2006/main">
            <a:off x="3181350" y="2943225"/>
            <a:ext cx="1304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71A14"/>
                </a:solidFill>
              </a:defRPr>
            </a:pPr>
            <a:r>
              <a:rPr sz="1500" b="1">
                <a:solidFill>
                  <a:srgbClr val="071A14"/>
                </a:solidFill>
              </a:rPr>
              <a:t>Normalization</a:t>
            </a:r>
          </a:p>
        </p:txBody>
      </p:sp>
      <p:sp>
        <p:nvSpPr>
          <p:cNvPr id="14" name="node-body-1">
            <a:extLst xmlns:a="http://schemas.openxmlformats.org/drawingml/2006/main">
              <a:ext uri="{FF2B5EF4-FFF2-40B4-BE49-F238E27FC236}">
                <a16:creationId xmlns:a16="http://schemas.microsoft.com/office/drawing/2014/main" id="{724D3CB4-4DC8-4FE2-B5C4-EEEB4B4BAF20}"/>
              </a:ext>
            </a:extLst>
          </p:cNvPr>
          <p:cNvSpPr>
            <a:spLocks xmlns:a="http://schemas.openxmlformats.org/drawingml/2006/main" noGrp="1"/>
          </p:cNvSpPr>
          <p:nvPr/>
        </p:nvSpPr>
        <p:spPr>
          <a:xfrm xmlns:a="http://schemas.openxmlformats.org/drawingml/2006/main">
            <a:off x="3181350" y="34099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1716A"/>
                </a:solidFill>
              </a:defRPr>
            </a:pPr>
            <a:r>
              <a:rPr sz="1275" b="0">
                <a:solidFill>
                  <a:srgbClr val="61716A"/>
                </a:solidFill>
              </a:rPr>
              <a:t>Common event</a:t>
            </a:r>
          </a:p>
          <a:p xmlns:a="http://schemas.openxmlformats.org/drawingml/2006/main">
            <a:pPr algn="ctr">
              <a:defRPr sz="1275" b="0">
                <a:solidFill>
                  <a:srgbClr val="61716A"/>
                </a:solidFill>
              </a:defRPr>
            </a:pPr>
            <a:r>
              <a:rPr sz="1275" b="0">
                <a:solidFill>
                  <a:srgbClr val="61716A"/>
                </a:solidFill>
              </a:rPr>
              <a:t>fields + source</a:t>
            </a:r>
          </a:p>
          <a:p xmlns:a="http://schemas.openxmlformats.org/drawingml/2006/main">
            <a:pPr algn="ctr">
              <a:defRPr sz="1275" b="0">
                <a:solidFill>
                  <a:srgbClr val="61716A"/>
                </a:solidFill>
              </a:defRPr>
            </a:pPr>
            <a:r>
              <a:rPr sz="1275" b="0">
                <a:solidFill>
                  <a:srgbClr val="61716A"/>
                </a:solidFill>
              </a:rPr>
              <a:t>identity</a:t>
            </a:r>
          </a:p>
        </p:txBody>
      </p:sp>
      <p:sp>
        <p:nvSpPr>
          <p:cNvPr id="15" name="node-2">
            <a:extLst xmlns:a="http://schemas.openxmlformats.org/drawingml/2006/main">
              <a:ext uri="{FF2B5EF4-FFF2-40B4-BE49-F238E27FC236}">
                <a16:creationId xmlns:a16="http://schemas.microsoft.com/office/drawing/2014/main" id="{8986A10F-E320-4DBF-AADD-FC65CBB01E39}"/>
              </a:ext>
            </a:extLst>
          </p:cNvPr>
          <p:cNvSpPr>
            <a:spLocks xmlns:a="http://schemas.openxmlformats.org/drawingml/2006/main" noGrp="1"/>
          </p:cNvSpPr>
          <p:nvPr/>
        </p:nvSpPr>
        <p:spPr>
          <a:xfrm xmlns:a="http://schemas.openxmlformats.org/drawingml/2006/main">
            <a:off x="5429250" y="2781300"/>
            <a:ext cx="1571625" cy="1524000"/>
          </a:xfrm>
          <a:prstGeom xmlns:a="http://schemas.openxmlformats.org/drawingml/2006/main" prst="roundRect">
            <a:avLst>
              <a:gd name="adj" fmla="val 7500"/>
            </a:avLst>
          </a:prstGeom>
          <a:solidFill xmlns:a="http://schemas.openxmlformats.org/drawingml/2006/main">
            <a:srgbClr val="DFF5EA"/>
          </a:solidFill>
          <a:ln xmlns:a="http://schemas.openxmlformats.org/drawingml/2006/main" w="9525">
            <a:solidFill>
              <a:srgbClr val="BCC9C3"/>
            </a:solidFill>
            <a:prstDash val="solid"/>
          </a:ln>
        </p:spPr>
      </p:sp>
      <p:sp>
        <p:nvSpPr>
          <p:cNvPr id="16" name="node-title-2">
            <a:extLst xmlns:a="http://schemas.openxmlformats.org/drawingml/2006/main">
              <a:ext uri="{FF2B5EF4-FFF2-40B4-BE49-F238E27FC236}">
                <a16:creationId xmlns:a16="http://schemas.microsoft.com/office/drawing/2014/main" id="{56B8ABFF-FB84-4A50-86E0-E8C3566CEA21}"/>
              </a:ext>
            </a:extLst>
          </p:cNvPr>
          <p:cNvSpPr>
            <a:spLocks xmlns:a="http://schemas.openxmlformats.org/drawingml/2006/main" noGrp="1"/>
          </p:cNvSpPr>
          <p:nvPr/>
        </p:nvSpPr>
        <p:spPr>
          <a:xfrm xmlns:a="http://schemas.openxmlformats.org/drawingml/2006/main">
            <a:off x="5562600" y="2943225"/>
            <a:ext cx="1304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127"/>
          </a:bodyPr>
          <a:lstStyle xmlns:a="http://schemas.openxmlformats.org/drawingml/2006/main"/>
          <a:p xmlns:a="http://schemas.openxmlformats.org/drawingml/2006/main">
            <a:pPr algn="ctr">
              <a:defRPr sz="1500" b="1">
                <a:solidFill>
                  <a:srgbClr val="071A14"/>
                </a:solidFill>
              </a:defRPr>
            </a:pPr>
            <a:r>
              <a:rPr sz="1500" b="1">
                <a:solidFill>
                  <a:srgbClr val="071A14"/>
                </a:solidFill>
              </a:rPr>
              <a:t>Detection engine</a:t>
            </a:r>
          </a:p>
        </p:txBody>
      </p:sp>
      <p:sp>
        <p:nvSpPr>
          <p:cNvPr id="17" name="node-body-2">
            <a:extLst xmlns:a="http://schemas.openxmlformats.org/drawingml/2006/main">
              <a:ext uri="{FF2B5EF4-FFF2-40B4-BE49-F238E27FC236}">
                <a16:creationId xmlns:a16="http://schemas.microsoft.com/office/drawing/2014/main" id="{26581197-292C-4BE5-ADA5-96848579544B}"/>
              </a:ext>
            </a:extLst>
          </p:cNvPr>
          <p:cNvSpPr>
            <a:spLocks xmlns:a="http://schemas.openxmlformats.org/drawingml/2006/main" noGrp="1"/>
          </p:cNvSpPr>
          <p:nvPr/>
        </p:nvSpPr>
        <p:spPr>
          <a:xfrm xmlns:a="http://schemas.openxmlformats.org/drawingml/2006/main">
            <a:off x="5562600" y="34099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1716A"/>
                </a:solidFill>
              </a:defRPr>
            </a:pPr>
            <a:r>
              <a:rPr sz="1275" b="0">
                <a:solidFill>
                  <a:srgbClr val="61716A"/>
                </a:solidFill>
              </a:rPr>
              <a:t>Six rules</a:t>
            </a:r>
          </a:p>
          <a:p xmlns:a="http://schemas.openxmlformats.org/drawingml/2006/main">
            <a:pPr algn="ctr">
              <a:defRPr sz="1275" b="0">
                <a:solidFill>
                  <a:srgbClr val="61716A"/>
                </a:solidFill>
              </a:defRPr>
            </a:pPr>
            <a:r>
              <a:rPr sz="1275" b="0">
                <a:solidFill>
                  <a:srgbClr val="61716A"/>
                </a:solidFill>
              </a:rPr>
              <a:t>MITRE mapping</a:t>
            </a:r>
          </a:p>
          <a:p xmlns:a="http://schemas.openxmlformats.org/drawingml/2006/main">
            <a:pPr algn="ctr">
              <a:defRPr sz="1275" b="0">
                <a:solidFill>
                  <a:srgbClr val="61716A"/>
                </a:solidFill>
              </a:defRPr>
            </a:pPr>
            <a:r>
              <a:rPr sz="1275" b="0">
                <a:solidFill>
                  <a:srgbClr val="61716A"/>
                </a:solidFill>
              </a:rPr>
              <a:t>severity</a:t>
            </a:r>
          </a:p>
        </p:txBody>
      </p:sp>
      <p:sp>
        <p:nvSpPr>
          <p:cNvPr id="18" name="node-3">
            <a:extLst xmlns:a="http://schemas.openxmlformats.org/drawingml/2006/main">
              <a:ext uri="{FF2B5EF4-FFF2-40B4-BE49-F238E27FC236}">
                <a16:creationId xmlns:a16="http://schemas.microsoft.com/office/drawing/2014/main" id="{D7AEDF1A-989A-48F6-94DE-5E744EB22C81}"/>
              </a:ext>
            </a:extLst>
          </p:cNvPr>
          <p:cNvSpPr>
            <a:spLocks xmlns:a="http://schemas.openxmlformats.org/drawingml/2006/main" noGrp="1"/>
          </p:cNvSpPr>
          <p:nvPr/>
        </p:nvSpPr>
        <p:spPr>
          <a:xfrm xmlns:a="http://schemas.openxmlformats.org/drawingml/2006/main">
            <a:off x="7810500" y="2781300"/>
            <a:ext cx="1571625" cy="1524000"/>
          </a:xfrm>
          <a:prstGeom xmlns:a="http://schemas.openxmlformats.org/drawingml/2006/main" prst="roundRect">
            <a:avLst>
              <a:gd name="adj" fmla="val 7500"/>
            </a:avLst>
          </a:prstGeom>
          <a:solidFill xmlns:a="http://schemas.openxmlformats.org/drawingml/2006/main">
            <a:srgbClr val="EDF2F0"/>
          </a:solidFill>
          <a:ln xmlns:a="http://schemas.openxmlformats.org/drawingml/2006/main" w="9525">
            <a:solidFill>
              <a:srgbClr val="BCC9C3"/>
            </a:solidFill>
            <a:prstDash val="solid"/>
          </a:ln>
        </p:spPr>
      </p:sp>
      <p:sp>
        <p:nvSpPr>
          <p:cNvPr id="19" name="node-title-3">
            <a:extLst xmlns:a="http://schemas.openxmlformats.org/drawingml/2006/main">
              <a:ext uri="{FF2B5EF4-FFF2-40B4-BE49-F238E27FC236}">
                <a16:creationId xmlns:a16="http://schemas.microsoft.com/office/drawing/2014/main" id="{EE2676D1-5DAE-40EE-839C-5580C6688FCF}"/>
              </a:ext>
            </a:extLst>
          </p:cNvPr>
          <p:cNvSpPr>
            <a:spLocks xmlns:a="http://schemas.openxmlformats.org/drawingml/2006/main" noGrp="1"/>
          </p:cNvSpPr>
          <p:nvPr/>
        </p:nvSpPr>
        <p:spPr>
          <a:xfrm xmlns:a="http://schemas.openxmlformats.org/drawingml/2006/main">
            <a:off x="7943850" y="2943225"/>
            <a:ext cx="1304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71A14"/>
                </a:solidFill>
              </a:defRPr>
            </a:pPr>
            <a:r>
              <a:rPr sz="1500" b="1">
                <a:solidFill>
                  <a:srgbClr val="071A14"/>
                </a:solidFill>
              </a:rPr>
              <a:t>SOC evidence</a:t>
            </a:r>
          </a:p>
        </p:txBody>
      </p:sp>
      <p:sp>
        <p:nvSpPr>
          <p:cNvPr id="20" name="node-body-3">
            <a:extLst xmlns:a="http://schemas.openxmlformats.org/drawingml/2006/main">
              <a:ext uri="{FF2B5EF4-FFF2-40B4-BE49-F238E27FC236}">
                <a16:creationId xmlns:a16="http://schemas.microsoft.com/office/drawing/2014/main" id="{A2311500-7C2D-4801-BBF4-724C05E6FBBD}"/>
              </a:ext>
            </a:extLst>
          </p:cNvPr>
          <p:cNvSpPr>
            <a:spLocks xmlns:a="http://schemas.openxmlformats.org/drawingml/2006/main" noGrp="1"/>
          </p:cNvSpPr>
          <p:nvPr/>
        </p:nvSpPr>
        <p:spPr>
          <a:xfrm xmlns:a="http://schemas.openxmlformats.org/drawingml/2006/main">
            <a:off x="7943850" y="34099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1716A"/>
                </a:solidFill>
              </a:defRPr>
            </a:pPr>
            <a:r>
              <a:rPr sz="1275" b="0">
                <a:solidFill>
                  <a:srgbClr val="61716A"/>
                </a:solidFill>
              </a:rPr>
              <a:t>Alerts</a:t>
            </a:r>
          </a:p>
          <a:p xmlns:a="http://schemas.openxmlformats.org/drawingml/2006/main">
            <a:pPr algn="ctr">
              <a:defRPr sz="1275" b="0">
                <a:solidFill>
                  <a:srgbClr val="61716A"/>
                </a:solidFill>
              </a:defRPr>
            </a:pPr>
            <a:r>
              <a:rPr sz="1275" b="0">
                <a:solidFill>
                  <a:srgbClr val="61716A"/>
                </a:solidFill>
              </a:rPr>
              <a:t>metrics</a:t>
            </a:r>
          </a:p>
          <a:p xmlns:a="http://schemas.openxmlformats.org/drawingml/2006/main">
            <a:pPr algn="ctr">
              <a:defRPr sz="1275" b="0">
                <a:solidFill>
                  <a:srgbClr val="61716A"/>
                </a:solidFill>
              </a:defRPr>
            </a:pPr>
            <a:r>
              <a:rPr sz="1275" b="0">
                <a:solidFill>
                  <a:srgbClr val="61716A"/>
                </a:solidFill>
              </a:rPr>
              <a:t>source health</a:t>
            </a:r>
          </a:p>
        </p:txBody>
      </p:sp>
      <p:sp>
        <p:nvSpPr>
          <p:cNvPr id="21" name="node-4">
            <a:extLst xmlns:a="http://schemas.openxmlformats.org/drawingml/2006/main">
              <a:ext uri="{FF2B5EF4-FFF2-40B4-BE49-F238E27FC236}">
                <a16:creationId xmlns:a16="http://schemas.microsoft.com/office/drawing/2014/main" id="{D06B7E86-8D9A-41BC-B3A0-752027B53548}"/>
              </a:ext>
            </a:extLst>
          </p:cNvPr>
          <p:cNvSpPr>
            <a:spLocks xmlns:a="http://schemas.openxmlformats.org/drawingml/2006/main" noGrp="1"/>
          </p:cNvSpPr>
          <p:nvPr/>
        </p:nvSpPr>
        <p:spPr>
          <a:xfrm xmlns:a="http://schemas.openxmlformats.org/drawingml/2006/main">
            <a:off x="10001250" y="2781300"/>
            <a:ext cx="1571625" cy="1524000"/>
          </a:xfrm>
          <a:prstGeom xmlns:a="http://schemas.openxmlformats.org/drawingml/2006/main" prst="roundRect">
            <a:avLst>
              <a:gd name="adj" fmla="val 7500"/>
            </a:avLst>
          </a:prstGeom>
          <a:solidFill xmlns:a="http://schemas.openxmlformats.org/drawingml/2006/main">
            <a:srgbClr val="EDF2F0"/>
          </a:solidFill>
          <a:ln xmlns:a="http://schemas.openxmlformats.org/drawingml/2006/main" w="9525">
            <a:solidFill>
              <a:srgbClr val="BCC9C3"/>
            </a:solidFill>
            <a:prstDash val="solid"/>
          </a:ln>
        </p:spPr>
      </p:sp>
      <p:sp>
        <p:nvSpPr>
          <p:cNvPr id="22" name="node-title-4">
            <a:extLst xmlns:a="http://schemas.openxmlformats.org/drawingml/2006/main">
              <a:ext uri="{FF2B5EF4-FFF2-40B4-BE49-F238E27FC236}">
                <a16:creationId xmlns:a16="http://schemas.microsoft.com/office/drawing/2014/main" id="{6CAC29DF-FEB9-409A-B2AC-B881A1AA0100}"/>
              </a:ext>
            </a:extLst>
          </p:cNvPr>
          <p:cNvSpPr>
            <a:spLocks xmlns:a="http://schemas.openxmlformats.org/drawingml/2006/main" noGrp="1"/>
          </p:cNvSpPr>
          <p:nvPr/>
        </p:nvSpPr>
        <p:spPr>
          <a:xfrm xmlns:a="http://schemas.openxmlformats.org/drawingml/2006/main">
            <a:off x="10134600" y="2943225"/>
            <a:ext cx="13049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71A14"/>
                </a:solidFill>
              </a:defRPr>
            </a:pPr>
            <a:r>
              <a:rPr sz="1500" b="1">
                <a:solidFill>
                  <a:srgbClr val="071A14"/>
                </a:solidFill>
              </a:rPr>
              <a:t>Analyst action</a:t>
            </a:r>
          </a:p>
        </p:txBody>
      </p:sp>
      <p:sp>
        <p:nvSpPr>
          <p:cNvPr id="23" name="node-body-4">
            <a:extLst xmlns:a="http://schemas.openxmlformats.org/drawingml/2006/main">
              <a:ext uri="{FF2B5EF4-FFF2-40B4-BE49-F238E27FC236}">
                <a16:creationId xmlns:a16="http://schemas.microsoft.com/office/drawing/2014/main" id="{3D2DD48A-5D48-4B98-B0D3-43093E33D422}"/>
              </a:ext>
            </a:extLst>
          </p:cNvPr>
          <p:cNvSpPr>
            <a:spLocks xmlns:a="http://schemas.openxmlformats.org/drawingml/2006/main" noGrp="1"/>
          </p:cNvSpPr>
          <p:nvPr/>
        </p:nvSpPr>
        <p:spPr>
          <a:xfrm xmlns:a="http://schemas.openxmlformats.org/drawingml/2006/main">
            <a:off x="10134600" y="34099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1716A"/>
                </a:solidFill>
              </a:defRPr>
            </a:pPr>
            <a:r>
              <a:rPr sz="1275" b="0">
                <a:solidFill>
                  <a:srgbClr val="61716A"/>
                </a:solidFill>
              </a:rPr>
              <a:t>Triage</a:t>
            </a:r>
          </a:p>
          <a:p xmlns:a="http://schemas.openxmlformats.org/drawingml/2006/main">
            <a:pPr algn="ctr">
              <a:defRPr sz="1275" b="0">
                <a:solidFill>
                  <a:srgbClr val="61716A"/>
                </a:solidFill>
              </a:defRPr>
            </a:pPr>
            <a:r>
              <a:rPr sz="1275" b="0">
                <a:solidFill>
                  <a:srgbClr val="61716A"/>
                </a:solidFill>
              </a:rPr>
              <a:t>hunt</a:t>
            </a:r>
          </a:p>
          <a:p xmlns:a="http://schemas.openxmlformats.org/drawingml/2006/main">
            <a:pPr algn="ctr">
              <a:defRPr sz="1275" b="0">
                <a:solidFill>
                  <a:srgbClr val="61716A"/>
                </a:solidFill>
              </a:defRPr>
            </a:pPr>
            <a:r>
              <a:rPr sz="1275" b="0">
                <a:solidFill>
                  <a:srgbClr val="61716A"/>
                </a:solidFill>
              </a:rPr>
              <a:t>report</a:t>
            </a:r>
          </a:p>
        </p:txBody>
      </p:sp>
      <p:sp>
        <p:nvSpPr>
          <p:cNvPr id="24" name="text">
            <a:extLst xmlns:a="http://schemas.openxmlformats.org/drawingml/2006/main">
              <a:ext uri="{FF2B5EF4-FFF2-40B4-BE49-F238E27FC236}">
                <a16:creationId xmlns:a16="http://schemas.microsoft.com/office/drawing/2014/main" id="{E810ABB6-8F8D-4F33-A9FD-765CD14BA870}"/>
              </a:ext>
            </a:extLst>
          </p:cNvPr>
          <p:cNvSpPr>
            <a:spLocks xmlns:a="http://schemas.openxmlformats.org/drawingml/2006/main" noGrp="1"/>
          </p:cNvSpPr>
          <p:nvPr/>
        </p:nvSpPr>
        <p:spPr>
          <a:xfrm xmlns:a="http://schemas.openxmlformats.org/drawingml/2006/main">
            <a:off x="666750" y="49530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490"/>
          </a:bodyPr>
          <a:lstStyle xmlns:a="http://schemas.openxmlformats.org/drawingml/2006/main"/>
          <a:p xmlns:a="http://schemas.openxmlformats.org/drawingml/2006/main">
            <a:pPr algn="l">
              <a:defRPr sz="1275" b="1">
                <a:solidFill>
                  <a:srgbClr val="16734D"/>
                </a:solidFill>
              </a:defRPr>
            </a:pPr>
            <a:r>
              <a:rPr sz="1275" b="1">
                <a:solidFill>
                  <a:srgbClr val="16734D"/>
                </a:solidFill>
              </a:rPr>
              <a:t>Control principle</a:t>
            </a:r>
          </a:p>
        </p:txBody>
      </p:sp>
      <p:sp>
        <p:nvSpPr>
          <p:cNvPr id="25" name="text">
            <a:extLst xmlns:a="http://schemas.openxmlformats.org/drawingml/2006/main">
              <a:ext uri="{FF2B5EF4-FFF2-40B4-BE49-F238E27FC236}">
                <a16:creationId xmlns:a16="http://schemas.microsoft.com/office/drawing/2014/main" id="{0E43506C-80A1-4FDB-AD00-F6E42A924CBD}"/>
              </a:ext>
            </a:extLst>
          </p:cNvPr>
          <p:cNvSpPr>
            <a:spLocks xmlns:a="http://schemas.openxmlformats.org/drawingml/2006/main" noGrp="1"/>
          </p:cNvSpPr>
          <p:nvPr/>
        </p:nvSpPr>
        <p:spPr>
          <a:xfrm xmlns:a="http://schemas.openxmlformats.org/drawingml/2006/main">
            <a:off x="666750" y="52578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071A14"/>
                </a:solidFill>
              </a:defRPr>
            </a:pPr>
            <a:r>
              <a:rPr sz="1800" b="1">
                <a:solidFill>
                  <a:srgbClr val="071A14"/>
                </a:solidFill>
              </a:rPr>
              <a:t>Read-only, synthetic-by-default validation; live response remains outside the lab.</a:t>
            </a:r>
          </a:p>
        </p:txBody>
      </p:sp>
    </p:spTree>
    <p:extLst>
      <p:ext uri="{BB962C8B-B14F-4D97-AF65-F5344CB8AC3E}">
        <p14:creationId xmlns:p14="http://schemas.microsoft.com/office/powerpoint/2010/main" val="19136091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kicker">
            <a:extLst xmlns:a="http://schemas.openxmlformats.org/drawingml/2006/main">
              <a:ext uri="{FF2B5EF4-FFF2-40B4-BE49-F238E27FC236}">
                <a16:creationId xmlns:a16="http://schemas.microsoft.com/office/drawing/2014/main" id="{5570A40F-C9CA-4850-A3D2-F36F58163725}"/>
              </a:ext>
            </a:extLst>
          </p:cNvPr>
          <p:cNvSpPr>
            <a:spLocks xmlns:a="http://schemas.openxmlformats.org/drawingml/2006/main" noGrp="1"/>
          </p:cNvSpPr>
          <p:nvPr/>
        </p:nvSpPr>
        <p:spPr>
          <a:xfrm xmlns:a="http://schemas.openxmlformats.org/drawingml/2006/main">
            <a:off x="51435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6734D"/>
                </a:solidFill>
              </a:defRPr>
            </a:pPr>
            <a:r>
              <a:rPr sz="1050" b="1">
                <a:solidFill>
                  <a:srgbClr val="16734D"/>
                </a:solidFill>
              </a:rPr>
              <a:t>LIVE WALKTHROUGH</a:t>
            </a:r>
          </a:p>
        </p:txBody>
      </p:sp>
      <p:sp>
        <p:nvSpPr>
          <p:cNvPr id="2" name="slide-title">
            <a:extLst xmlns:a="http://schemas.openxmlformats.org/drawingml/2006/main">
              <a:ext uri="{FF2B5EF4-FFF2-40B4-BE49-F238E27FC236}">
                <a16:creationId xmlns:a16="http://schemas.microsoft.com/office/drawing/2014/main" id="{241D4E1C-D2FE-451B-85A5-776E46917410}"/>
              </a:ext>
            </a:extLst>
          </p:cNvPr>
          <p:cNvSpPr>
            <a:spLocks xmlns:a="http://schemas.openxmlformats.org/drawingml/2006/main" noGrp="1"/>
          </p:cNvSpPr>
          <p:nvPr/>
        </p:nvSpPr>
        <p:spPr>
          <a:xfrm xmlns:a="http://schemas.openxmlformats.org/drawingml/2006/main">
            <a:off x="514350" y="619125"/>
            <a:ext cx="11096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71A14"/>
                </a:solidFill>
              </a:defRPr>
            </a:pPr>
            <a:r>
              <a:rPr sz="3000" b="1">
                <a:solidFill>
                  <a:srgbClr val="071A14"/>
                </a:solidFill>
              </a:rPr>
              <a:t>A recruiter can reproduce the demo in four commands</a:t>
            </a:r>
          </a:p>
        </p:txBody>
      </p:sp>
      <p:sp>
        <p:nvSpPr>
          <p:cNvPr id="3" name="slide-number">
            <a:extLst xmlns:a="http://schemas.openxmlformats.org/drawingml/2006/main">
              <a:ext uri="{FF2B5EF4-FFF2-40B4-BE49-F238E27FC236}">
                <a16:creationId xmlns:a16="http://schemas.microsoft.com/office/drawing/2014/main" id="{D3A0C625-177A-4966-B29B-BD441167AA5B}"/>
              </a:ext>
            </a:extLst>
          </p:cNvPr>
          <p:cNvSpPr>
            <a:spLocks xmlns:a="http://schemas.openxmlformats.org/drawingml/2006/main" noGrp="1"/>
          </p:cNvSpPr>
          <p:nvPr/>
        </p:nvSpPr>
        <p:spPr>
          <a:xfrm xmlns:a="http://schemas.openxmlformats.org/drawingml/2006/main">
            <a:off x="1118235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1716A"/>
                </a:solidFill>
              </a:defRPr>
            </a:pPr>
            <a:r>
              <a:rPr sz="900" b="0">
                <a:solidFill>
                  <a:srgbClr val="61716A"/>
                </a:solidFill>
              </a:rPr>
              <a:t>04</a:t>
            </a:r>
          </a:p>
        </p:txBody>
      </p:sp>
      <p:sp>
        <p:nvSpPr>
          <p:cNvPr id="4" name="footer">
            <a:extLst xmlns:a="http://schemas.openxmlformats.org/drawingml/2006/main">
              <a:ext uri="{FF2B5EF4-FFF2-40B4-BE49-F238E27FC236}">
                <a16:creationId xmlns:a16="http://schemas.microsoft.com/office/drawing/2014/main" id="{A410A9F1-ADED-4964-90E8-34BB6BC06A47}"/>
              </a:ext>
            </a:extLst>
          </p:cNvPr>
          <p:cNvSpPr>
            <a:spLocks xmlns:a="http://schemas.openxmlformats.org/drawingml/2006/main" noGrp="1"/>
          </p:cNvSpPr>
          <p:nvPr/>
        </p:nvSpPr>
        <p:spPr>
          <a:xfrm xmlns:a="http://schemas.openxmlformats.org/drawingml/2006/main">
            <a:off x="514350" y="63627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61716A"/>
                </a:solidFill>
              </a:defRPr>
            </a:pPr>
            <a:r>
              <a:rPr sz="900" b="1">
                <a:solidFill>
                  <a:srgbClr val="61716A"/>
                </a:solidFill>
              </a:rPr>
              <a:t>SIGNALFORGE SOC LAB</a:t>
            </a:r>
          </a:p>
        </p:txBody>
      </p:sp>
      <p:sp>
        <p:nvSpPr>
          <p:cNvPr id="5" name="step-no-0">
            <a:extLst xmlns:a="http://schemas.openxmlformats.org/drawingml/2006/main">
              <a:ext uri="{FF2B5EF4-FFF2-40B4-BE49-F238E27FC236}">
                <a16:creationId xmlns:a16="http://schemas.microsoft.com/office/drawing/2014/main" id="{CD284519-54B1-4EC7-A9E3-3916A512BE9E}"/>
              </a:ext>
            </a:extLst>
          </p:cNvPr>
          <p:cNvSpPr>
            <a:spLocks xmlns:a="http://schemas.openxmlformats.org/drawingml/2006/main" noGrp="1"/>
          </p:cNvSpPr>
          <p:nvPr/>
        </p:nvSpPr>
        <p:spPr>
          <a:xfrm xmlns:a="http://schemas.openxmlformats.org/drawingml/2006/main">
            <a:off x="647700" y="1524000"/>
            <a:ext cx="66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BCC9C3"/>
                </a:solidFill>
              </a:defRPr>
            </a:pPr>
            <a:r>
              <a:rPr sz="3000" b="1">
                <a:solidFill>
                  <a:srgbClr val="BCC9C3"/>
                </a:solidFill>
              </a:rPr>
              <a:t>01</a:t>
            </a:r>
          </a:p>
        </p:txBody>
      </p:sp>
      <p:sp>
        <p:nvSpPr>
          <p:cNvPr id="6" name="step-title-0">
            <a:extLst xmlns:a="http://schemas.openxmlformats.org/drawingml/2006/main">
              <a:ext uri="{FF2B5EF4-FFF2-40B4-BE49-F238E27FC236}">
                <a16:creationId xmlns:a16="http://schemas.microsoft.com/office/drawing/2014/main" id="{A0EC240C-A175-4038-B095-D783DFCFA3E1}"/>
              </a:ext>
            </a:extLst>
          </p:cNvPr>
          <p:cNvSpPr>
            <a:spLocks xmlns:a="http://schemas.openxmlformats.org/drawingml/2006/main" noGrp="1"/>
          </p:cNvSpPr>
          <p:nvPr/>
        </p:nvSpPr>
        <p:spPr>
          <a:xfrm xmlns:a="http://schemas.openxmlformats.org/drawingml/2006/main">
            <a:off x="1476375" y="15240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800" b="1">
                <a:solidFill>
                  <a:srgbClr val="071A14"/>
                </a:solidFill>
              </a:defRPr>
            </a:pPr>
            <a:r>
              <a:rPr sz="1800" b="1">
                <a:solidFill>
                  <a:srgbClr val="071A14"/>
                </a:solidFill>
              </a:rPr>
              <a:t>Clone</a:t>
            </a:r>
          </a:p>
        </p:txBody>
      </p:sp>
      <p:sp>
        <p:nvSpPr>
          <p:cNvPr id="7" name="command-bg-0">
            <a:extLst xmlns:a="http://schemas.openxmlformats.org/drawingml/2006/main">
              <a:ext uri="{FF2B5EF4-FFF2-40B4-BE49-F238E27FC236}">
                <a16:creationId xmlns:a16="http://schemas.microsoft.com/office/drawing/2014/main" id="{8D520401-DB18-4059-8EEE-1C29E20CD17A}"/>
              </a:ext>
            </a:extLst>
          </p:cNvPr>
          <p:cNvSpPr>
            <a:spLocks xmlns:a="http://schemas.openxmlformats.org/drawingml/2006/main" noGrp="1"/>
          </p:cNvSpPr>
          <p:nvPr/>
        </p:nvSpPr>
        <p:spPr>
          <a:xfrm xmlns:a="http://schemas.openxmlformats.org/drawingml/2006/main">
            <a:off x="3714750" y="1495425"/>
            <a:ext cx="7620000" cy="590550"/>
          </a:xfrm>
          <a:prstGeom xmlns:a="http://schemas.openxmlformats.org/drawingml/2006/main" prst="rect">
            <a:avLst/>
          </a:prstGeom>
          <a:solidFill xmlns:a="http://schemas.openxmlformats.org/drawingml/2006/main">
            <a:srgbClr val="EDF2F0"/>
          </a:solidFill>
          <a:ln xmlns:a="http://schemas.openxmlformats.org/drawingml/2006/main" w="0">
            <a:noFill/>
            <a:prstDash val="solid"/>
          </a:ln>
        </p:spPr>
      </p:sp>
      <p:sp>
        <p:nvSpPr>
          <p:cNvPr id="8" name="command-0">
            <a:extLst xmlns:a="http://schemas.openxmlformats.org/drawingml/2006/main">
              <a:ext uri="{FF2B5EF4-FFF2-40B4-BE49-F238E27FC236}">
                <a16:creationId xmlns:a16="http://schemas.microsoft.com/office/drawing/2014/main" id="{71CA63AC-7C2F-4C3F-9AEF-BF4DE3055675}"/>
              </a:ext>
            </a:extLst>
          </p:cNvPr>
          <p:cNvSpPr>
            <a:spLocks xmlns:a="http://schemas.openxmlformats.org/drawingml/2006/main" noGrp="1"/>
          </p:cNvSpPr>
          <p:nvPr/>
        </p:nvSpPr>
        <p:spPr>
          <a:xfrm xmlns:a="http://schemas.openxmlformats.org/drawingml/2006/main">
            <a:off x="3924300" y="156210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B1914"/>
                </a:solidFill>
              </a:defRPr>
            </a:pPr>
            <a:r>
              <a:rPr sz="1425" b="1">
                <a:solidFill>
                  <a:srgbClr val="0B1914"/>
                </a:solidFill>
              </a:rPr>
              <a:t>git clone …/soc-detection-engineering-lab.git</a:t>
            </a:r>
          </a:p>
        </p:txBody>
      </p:sp>
      <p:sp>
        <p:nvSpPr>
          <p:cNvPr id="9" name="step-no-1">
            <a:extLst xmlns:a="http://schemas.openxmlformats.org/drawingml/2006/main">
              <a:ext uri="{FF2B5EF4-FFF2-40B4-BE49-F238E27FC236}">
                <a16:creationId xmlns:a16="http://schemas.microsoft.com/office/drawing/2014/main" id="{C261A22F-9140-4F25-B96F-B93247832779}"/>
              </a:ext>
            </a:extLst>
          </p:cNvPr>
          <p:cNvSpPr>
            <a:spLocks xmlns:a="http://schemas.openxmlformats.org/drawingml/2006/main" noGrp="1"/>
          </p:cNvSpPr>
          <p:nvPr/>
        </p:nvSpPr>
        <p:spPr>
          <a:xfrm xmlns:a="http://schemas.openxmlformats.org/drawingml/2006/main">
            <a:off x="647700" y="2590800"/>
            <a:ext cx="66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BCC9C3"/>
                </a:solidFill>
              </a:defRPr>
            </a:pPr>
            <a:r>
              <a:rPr sz="3000" b="1">
                <a:solidFill>
                  <a:srgbClr val="BCC9C3"/>
                </a:solidFill>
              </a:rPr>
              <a:t>02</a:t>
            </a:r>
          </a:p>
        </p:txBody>
      </p:sp>
      <p:sp>
        <p:nvSpPr>
          <p:cNvPr id="10" name="step-title-1">
            <a:extLst xmlns:a="http://schemas.openxmlformats.org/drawingml/2006/main">
              <a:ext uri="{FF2B5EF4-FFF2-40B4-BE49-F238E27FC236}">
                <a16:creationId xmlns:a16="http://schemas.microsoft.com/office/drawing/2014/main" id="{BFC8506D-7D5B-4973-9AF9-9071F5589658}"/>
              </a:ext>
            </a:extLst>
          </p:cNvPr>
          <p:cNvSpPr>
            <a:spLocks xmlns:a="http://schemas.openxmlformats.org/drawingml/2006/main" noGrp="1"/>
          </p:cNvSpPr>
          <p:nvPr/>
        </p:nvSpPr>
        <p:spPr>
          <a:xfrm xmlns:a="http://schemas.openxmlformats.org/drawingml/2006/main">
            <a:off x="1476375" y="25908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800" b="1">
                <a:solidFill>
                  <a:srgbClr val="071A14"/>
                </a:solidFill>
              </a:defRPr>
            </a:pPr>
            <a:r>
              <a:rPr sz="1800" b="1">
                <a:solidFill>
                  <a:srgbClr val="071A14"/>
                </a:solidFill>
              </a:rPr>
              <a:t>Start</a:t>
            </a:r>
          </a:p>
        </p:txBody>
      </p:sp>
      <p:sp>
        <p:nvSpPr>
          <p:cNvPr id="11" name="command-bg-1">
            <a:extLst xmlns:a="http://schemas.openxmlformats.org/drawingml/2006/main">
              <a:ext uri="{FF2B5EF4-FFF2-40B4-BE49-F238E27FC236}">
                <a16:creationId xmlns:a16="http://schemas.microsoft.com/office/drawing/2014/main" id="{A271F0B5-DCA3-499D-8278-F78171FE71D7}"/>
              </a:ext>
            </a:extLst>
          </p:cNvPr>
          <p:cNvSpPr>
            <a:spLocks xmlns:a="http://schemas.openxmlformats.org/drawingml/2006/main" noGrp="1"/>
          </p:cNvSpPr>
          <p:nvPr/>
        </p:nvSpPr>
        <p:spPr>
          <a:xfrm xmlns:a="http://schemas.openxmlformats.org/drawingml/2006/main">
            <a:off x="3714750" y="2562225"/>
            <a:ext cx="7620000" cy="590550"/>
          </a:xfrm>
          <a:prstGeom xmlns:a="http://schemas.openxmlformats.org/drawingml/2006/main" prst="rect">
            <a:avLst/>
          </a:prstGeom>
          <a:solidFill xmlns:a="http://schemas.openxmlformats.org/drawingml/2006/main">
            <a:srgbClr val="EDF2F0"/>
          </a:solidFill>
          <a:ln xmlns:a="http://schemas.openxmlformats.org/drawingml/2006/main" w="0">
            <a:noFill/>
            <a:prstDash val="solid"/>
          </a:ln>
        </p:spPr>
      </p:sp>
      <p:sp>
        <p:nvSpPr>
          <p:cNvPr id="12" name="command-1">
            <a:extLst xmlns:a="http://schemas.openxmlformats.org/drawingml/2006/main">
              <a:ext uri="{FF2B5EF4-FFF2-40B4-BE49-F238E27FC236}">
                <a16:creationId xmlns:a16="http://schemas.microsoft.com/office/drawing/2014/main" id="{B4B7E05F-C01F-4016-ADDB-6F09896EED13}"/>
              </a:ext>
            </a:extLst>
          </p:cNvPr>
          <p:cNvSpPr>
            <a:spLocks xmlns:a="http://schemas.openxmlformats.org/drawingml/2006/main" noGrp="1"/>
          </p:cNvSpPr>
          <p:nvPr/>
        </p:nvSpPr>
        <p:spPr>
          <a:xfrm xmlns:a="http://schemas.openxmlformats.org/drawingml/2006/main">
            <a:off x="3924300" y="262890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B1914"/>
                </a:solidFill>
              </a:defRPr>
            </a:pPr>
            <a:r>
              <a:rPr sz="1425" b="1">
                <a:solidFill>
                  <a:srgbClr val="0B1914"/>
                </a:solidFill>
              </a:rPr>
              <a:t>docker compose up --build --wait</a:t>
            </a:r>
          </a:p>
        </p:txBody>
      </p:sp>
      <p:sp>
        <p:nvSpPr>
          <p:cNvPr id="13" name="step-no-2">
            <a:extLst xmlns:a="http://schemas.openxmlformats.org/drawingml/2006/main">
              <a:ext uri="{FF2B5EF4-FFF2-40B4-BE49-F238E27FC236}">
                <a16:creationId xmlns:a16="http://schemas.microsoft.com/office/drawing/2014/main" id="{31D758AF-0D52-4190-8DB6-CC6D514B8B27}"/>
              </a:ext>
            </a:extLst>
          </p:cNvPr>
          <p:cNvSpPr>
            <a:spLocks xmlns:a="http://schemas.openxmlformats.org/drawingml/2006/main" noGrp="1"/>
          </p:cNvSpPr>
          <p:nvPr/>
        </p:nvSpPr>
        <p:spPr>
          <a:xfrm xmlns:a="http://schemas.openxmlformats.org/drawingml/2006/main">
            <a:off x="647700" y="3657600"/>
            <a:ext cx="66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16734D"/>
                </a:solidFill>
              </a:defRPr>
            </a:pPr>
            <a:r>
              <a:rPr sz="3000" b="1">
                <a:solidFill>
                  <a:srgbClr val="16734D"/>
                </a:solidFill>
              </a:rPr>
              <a:t>03</a:t>
            </a:r>
          </a:p>
        </p:txBody>
      </p:sp>
      <p:sp>
        <p:nvSpPr>
          <p:cNvPr id="14" name="step-title-2">
            <a:extLst xmlns:a="http://schemas.openxmlformats.org/drawingml/2006/main">
              <a:ext uri="{FF2B5EF4-FFF2-40B4-BE49-F238E27FC236}">
                <a16:creationId xmlns:a16="http://schemas.microsoft.com/office/drawing/2014/main" id="{2BC8DC20-72D3-4E71-8C23-6AB859E744CD}"/>
              </a:ext>
            </a:extLst>
          </p:cNvPr>
          <p:cNvSpPr>
            <a:spLocks xmlns:a="http://schemas.openxmlformats.org/drawingml/2006/main" noGrp="1"/>
          </p:cNvSpPr>
          <p:nvPr/>
        </p:nvSpPr>
        <p:spPr>
          <a:xfrm xmlns:a="http://schemas.openxmlformats.org/drawingml/2006/main">
            <a:off x="1476375" y="36576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800" b="1">
                <a:solidFill>
                  <a:srgbClr val="071A14"/>
                </a:solidFill>
              </a:defRPr>
            </a:pPr>
            <a:r>
              <a:rPr sz="1800" b="1">
                <a:solidFill>
                  <a:srgbClr val="071A14"/>
                </a:solidFill>
              </a:rPr>
              <a:t>Validate</a:t>
            </a:r>
          </a:p>
        </p:txBody>
      </p:sp>
      <p:sp>
        <p:nvSpPr>
          <p:cNvPr id="15" name="command-bg-2">
            <a:extLst xmlns:a="http://schemas.openxmlformats.org/drawingml/2006/main">
              <a:ext uri="{FF2B5EF4-FFF2-40B4-BE49-F238E27FC236}">
                <a16:creationId xmlns:a16="http://schemas.microsoft.com/office/drawing/2014/main" id="{703C862D-8A46-43DC-ABAF-2D5FC26D0968}"/>
              </a:ext>
            </a:extLst>
          </p:cNvPr>
          <p:cNvSpPr>
            <a:spLocks xmlns:a="http://schemas.openxmlformats.org/drawingml/2006/main" noGrp="1"/>
          </p:cNvSpPr>
          <p:nvPr/>
        </p:nvSpPr>
        <p:spPr>
          <a:xfrm xmlns:a="http://schemas.openxmlformats.org/drawingml/2006/main">
            <a:off x="3714750" y="3629025"/>
            <a:ext cx="7620000" cy="590550"/>
          </a:xfrm>
          <a:prstGeom xmlns:a="http://schemas.openxmlformats.org/drawingml/2006/main" prst="rect">
            <a:avLst/>
          </a:prstGeom>
          <a:solidFill xmlns:a="http://schemas.openxmlformats.org/drawingml/2006/main">
            <a:srgbClr val="E3F7EC"/>
          </a:solidFill>
          <a:ln xmlns:a="http://schemas.openxmlformats.org/drawingml/2006/main" w="0">
            <a:noFill/>
            <a:prstDash val="solid"/>
          </a:ln>
        </p:spPr>
      </p:sp>
      <p:sp>
        <p:nvSpPr>
          <p:cNvPr id="16" name="command-2">
            <a:extLst xmlns:a="http://schemas.openxmlformats.org/drawingml/2006/main">
              <a:ext uri="{FF2B5EF4-FFF2-40B4-BE49-F238E27FC236}">
                <a16:creationId xmlns:a16="http://schemas.microsoft.com/office/drawing/2014/main" id="{93960913-FC54-4AB5-B78B-A2844750B6AA}"/>
              </a:ext>
            </a:extLst>
          </p:cNvPr>
          <p:cNvSpPr>
            <a:spLocks xmlns:a="http://schemas.openxmlformats.org/drawingml/2006/main" noGrp="1"/>
          </p:cNvSpPr>
          <p:nvPr/>
        </p:nvSpPr>
        <p:spPr>
          <a:xfrm xmlns:a="http://schemas.openxmlformats.org/drawingml/2006/main">
            <a:off x="3924300" y="369570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B1914"/>
                </a:solidFill>
              </a:defRPr>
            </a:pPr>
            <a:r>
              <a:rPr sz="1425" b="1">
                <a:solidFill>
                  <a:srgbClr val="0B1914"/>
                </a:solidFill>
              </a:rPr>
              <a:t>python scripts/validate_lab.py</a:t>
            </a:r>
          </a:p>
        </p:txBody>
      </p:sp>
      <p:sp>
        <p:nvSpPr>
          <p:cNvPr id="17" name="step-no-3">
            <a:extLst xmlns:a="http://schemas.openxmlformats.org/drawingml/2006/main">
              <a:ext uri="{FF2B5EF4-FFF2-40B4-BE49-F238E27FC236}">
                <a16:creationId xmlns:a16="http://schemas.microsoft.com/office/drawing/2014/main" id="{58FBE186-232F-4DFA-B1B4-91CDB61CF7FE}"/>
              </a:ext>
            </a:extLst>
          </p:cNvPr>
          <p:cNvSpPr>
            <a:spLocks xmlns:a="http://schemas.openxmlformats.org/drawingml/2006/main" noGrp="1"/>
          </p:cNvSpPr>
          <p:nvPr/>
        </p:nvSpPr>
        <p:spPr>
          <a:xfrm xmlns:a="http://schemas.openxmlformats.org/drawingml/2006/main">
            <a:off x="647700" y="4724400"/>
            <a:ext cx="666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BCC9C3"/>
                </a:solidFill>
              </a:defRPr>
            </a:pPr>
            <a:r>
              <a:rPr sz="3000" b="1">
                <a:solidFill>
                  <a:srgbClr val="BCC9C3"/>
                </a:solidFill>
              </a:rPr>
              <a:t>04</a:t>
            </a:r>
          </a:p>
        </p:txBody>
      </p:sp>
      <p:sp>
        <p:nvSpPr>
          <p:cNvPr id="18" name="step-title-3">
            <a:extLst xmlns:a="http://schemas.openxmlformats.org/drawingml/2006/main">
              <a:ext uri="{FF2B5EF4-FFF2-40B4-BE49-F238E27FC236}">
                <a16:creationId xmlns:a16="http://schemas.microsoft.com/office/drawing/2014/main" id="{0EE04F74-0A32-4081-BEAF-A69B35BB7447}"/>
              </a:ext>
            </a:extLst>
          </p:cNvPr>
          <p:cNvSpPr>
            <a:spLocks xmlns:a="http://schemas.openxmlformats.org/drawingml/2006/main" noGrp="1"/>
          </p:cNvSpPr>
          <p:nvPr/>
        </p:nvSpPr>
        <p:spPr>
          <a:xfrm xmlns:a="http://schemas.openxmlformats.org/drawingml/2006/main">
            <a:off x="1476375" y="47244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800" b="1">
                <a:solidFill>
                  <a:srgbClr val="071A14"/>
                </a:solidFill>
              </a:defRPr>
            </a:pPr>
            <a:r>
              <a:rPr sz="1800" b="1">
                <a:solidFill>
                  <a:srgbClr val="071A14"/>
                </a:solidFill>
              </a:rPr>
              <a:t>Explore</a:t>
            </a:r>
          </a:p>
        </p:txBody>
      </p:sp>
      <p:sp>
        <p:nvSpPr>
          <p:cNvPr id="19" name="command-bg-3">
            <a:extLst xmlns:a="http://schemas.openxmlformats.org/drawingml/2006/main">
              <a:ext uri="{FF2B5EF4-FFF2-40B4-BE49-F238E27FC236}">
                <a16:creationId xmlns:a16="http://schemas.microsoft.com/office/drawing/2014/main" id="{ED16C9AB-453B-4577-B1DE-2A2395ACD0E8}"/>
              </a:ext>
            </a:extLst>
          </p:cNvPr>
          <p:cNvSpPr>
            <a:spLocks xmlns:a="http://schemas.openxmlformats.org/drawingml/2006/main" noGrp="1"/>
          </p:cNvSpPr>
          <p:nvPr/>
        </p:nvSpPr>
        <p:spPr>
          <a:xfrm xmlns:a="http://schemas.openxmlformats.org/drawingml/2006/main">
            <a:off x="3714750" y="4695825"/>
            <a:ext cx="7620000" cy="590550"/>
          </a:xfrm>
          <a:prstGeom xmlns:a="http://schemas.openxmlformats.org/drawingml/2006/main" prst="rect">
            <a:avLst/>
          </a:prstGeom>
          <a:solidFill xmlns:a="http://schemas.openxmlformats.org/drawingml/2006/main">
            <a:srgbClr val="EDF2F0"/>
          </a:solidFill>
          <a:ln xmlns:a="http://schemas.openxmlformats.org/drawingml/2006/main" w="0">
            <a:noFill/>
            <a:prstDash val="solid"/>
          </a:ln>
        </p:spPr>
      </p:sp>
      <p:sp>
        <p:nvSpPr>
          <p:cNvPr id="20" name="command-3">
            <a:extLst xmlns:a="http://schemas.openxmlformats.org/drawingml/2006/main">
              <a:ext uri="{FF2B5EF4-FFF2-40B4-BE49-F238E27FC236}">
                <a16:creationId xmlns:a16="http://schemas.microsoft.com/office/drawing/2014/main" id="{78C8B2FE-49E8-489F-A64A-3F73B89F1C89}"/>
              </a:ext>
            </a:extLst>
          </p:cNvPr>
          <p:cNvSpPr>
            <a:spLocks xmlns:a="http://schemas.openxmlformats.org/drawingml/2006/main" noGrp="1"/>
          </p:cNvSpPr>
          <p:nvPr/>
        </p:nvSpPr>
        <p:spPr>
          <a:xfrm xmlns:a="http://schemas.openxmlformats.org/drawingml/2006/main">
            <a:off x="3924300" y="476250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B1914"/>
                </a:solidFill>
              </a:defRPr>
            </a:pPr>
            <a:r>
              <a:rPr sz="1425" b="1">
                <a:solidFill>
                  <a:srgbClr val="0B1914"/>
                </a:solidFill>
              </a:rPr>
              <a:t>Open http://localhost:8080</a:t>
            </a:r>
          </a:p>
        </p:txBody>
      </p:sp>
    </p:spTree>
    <p:extLst>
      <p:ext uri="{BB962C8B-B14F-4D97-AF65-F5344CB8AC3E}">
        <p14:creationId xmlns:p14="http://schemas.microsoft.com/office/powerpoint/2010/main" val="1118715757"/>
      </p:ext>
    </p:extLst>
  </p:cSld>
</p:sld>
</file>

<file path=ppt/slides/slide5.xml><?xml version="1.0" encoding="utf-8"?>
<p:sld xmlns:p="http://schemas.openxmlformats.org/presentationml/2006/main">
  <p:cSld>
    <p:bg>
      <p:bgPr>
        <a:solidFill xmlns:a="http://schemas.openxmlformats.org/drawingml/2006/main">
          <a:srgbClr val="0B1914"/>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CA179733-FE41-4FBA-9AB4-9F113392187B}"/>
              </a:ext>
            </a:extLst>
          </p:cNvPr>
          <p:cNvSpPr>
            <a:spLocks xmlns:a="http://schemas.openxmlformats.org/drawingml/2006/main" noGrp="1"/>
          </p:cNvSpPr>
          <p:nvPr/>
        </p:nvSpPr>
        <p:spPr>
          <a:xfrm xmlns:a="http://schemas.openxmlformats.org/drawingml/2006/main">
            <a:off x="438150" y="26670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B6F04A"/>
                </a:solidFill>
              </a:defRPr>
            </a:pPr>
            <a:r>
              <a:rPr sz="1350" b="1">
                <a:solidFill>
                  <a:srgbClr val="B6F04A"/>
                </a:solidFill>
              </a:rPr>
              <a:t>THE LIVE COMMAND CENTER MAKES PRIORITIES VISIBLE</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d63137603d4547c5"/>
          <a:stretch xmlns:a="http://schemas.openxmlformats.org/drawingml/2006/main"/>
        </p:blipFill>
        <p:spPr>
          <a:xfrm xmlns:a="http://schemas.openxmlformats.org/drawingml/2006/main">
            <a:off x="3039821" y="790575"/>
            <a:ext cx="6112359" cy="5572125"/>
          </a:xfrm>
          <a:prstGeom xmlns:a="http://schemas.openxmlformats.org/drawingml/2006/main" prst="rect">
            <a:avLst/>
          </a:prstGeom>
        </p:spPr>
      </p:pic>
      <p:sp>
        <p:nvSpPr>
          <p:cNvPr id="3" name="slide-number">
            <a:extLst xmlns:a="http://schemas.openxmlformats.org/drawingml/2006/main">
              <a:ext uri="{FF2B5EF4-FFF2-40B4-BE49-F238E27FC236}">
                <a16:creationId xmlns:a16="http://schemas.microsoft.com/office/drawing/2014/main" id="{6C30E64D-9FE3-4FC6-AEFA-F5B448416844}"/>
              </a:ext>
            </a:extLst>
          </p:cNvPr>
          <p:cNvSpPr>
            <a:spLocks xmlns:a="http://schemas.openxmlformats.org/drawingml/2006/main" noGrp="1"/>
          </p:cNvSpPr>
          <p:nvPr/>
        </p:nvSpPr>
        <p:spPr>
          <a:xfrm xmlns:a="http://schemas.openxmlformats.org/drawingml/2006/main">
            <a:off x="1118235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FFFFFF"/>
                </a:solidFill>
              </a:defRPr>
            </a:pPr>
            <a:r>
              <a:rPr sz="900" b="0">
                <a:solidFill>
                  <a:srgbClr val="FFFFFF"/>
                </a:solidFill>
              </a:rPr>
              <a:t>05</a:t>
            </a:r>
          </a:p>
        </p:txBody>
      </p:sp>
    </p:spTree>
    <p:extLst>
      <p:ext uri="{BB962C8B-B14F-4D97-AF65-F5344CB8AC3E}">
        <p14:creationId xmlns:p14="http://schemas.microsoft.com/office/powerpoint/2010/main" val="4112709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9323F56B-8C5F-40F1-9E39-2A784EACD35A}"/>
              </a:ext>
            </a:extLst>
          </p:cNvPr>
          <p:cNvSpPr>
            <a:spLocks xmlns:a="http://schemas.openxmlformats.org/drawingml/2006/main" noGrp="1"/>
          </p:cNvSpPr>
          <p:nvPr/>
        </p:nvSpPr>
        <p:spPr>
          <a:xfrm xmlns:a="http://schemas.openxmlformats.org/drawingml/2006/main">
            <a:off x="51435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6734D"/>
                </a:solidFill>
              </a:defRPr>
            </a:pPr>
            <a:r>
              <a:rPr sz="1050" b="1">
                <a:solidFill>
                  <a:srgbClr val="16734D"/>
                </a:solidFill>
              </a:rPr>
              <a:t>TRIAGE SCENARIO</a:t>
            </a:r>
          </a:p>
        </p:txBody>
      </p:sp>
      <p:sp>
        <p:nvSpPr>
          <p:cNvPr id="2" name="slide-title">
            <a:extLst xmlns:a="http://schemas.openxmlformats.org/drawingml/2006/main">
              <a:ext uri="{FF2B5EF4-FFF2-40B4-BE49-F238E27FC236}">
                <a16:creationId xmlns:a16="http://schemas.microsoft.com/office/drawing/2014/main" id="{9CF07CFC-00AF-4BB0-86B1-4EC341859359}"/>
              </a:ext>
            </a:extLst>
          </p:cNvPr>
          <p:cNvSpPr>
            <a:spLocks xmlns:a="http://schemas.openxmlformats.org/drawingml/2006/main" noGrp="1"/>
          </p:cNvSpPr>
          <p:nvPr/>
        </p:nvSpPr>
        <p:spPr>
          <a:xfrm xmlns:a="http://schemas.openxmlformats.org/drawingml/2006/main">
            <a:off x="514350" y="619125"/>
            <a:ext cx="11096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71A14"/>
                </a:solidFill>
              </a:defRPr>
            </a:pPr>
            <a:r>
              <a:rPr sz="3000" b="1">
                <a:solidFill>
                  <a:srgbClr val="071A14"/>
                </a:solidFill>
              </a:rPr>
              <a:t>Three signals become one defensible incident story</a:t>
            </a:r>
          </a:p>
        </p:txBody>
      </p:sp>
      <p:sp>
        <p:nvSpPr>
          <p:cNvPr id="3" name="slide-number">
            <a:extLst xmlns:a="http://schemas.openxmlformats.org/drawingml/2006/main">
              <a:ext uri="{FF2B5EF4-FFF2-40B4-BE49-F238E27FC236}">
                <a16:creationId xmlns:a16="http://schemas.microsoft.com/office/drawing/2014/main" id="{F56F4015-CFC5-4046-8E2C-340F1BB2DCEE}"/>
              </a:ext>
            </a:extLst>
          </p:cNvPr>
          <p:cNvSpPr>
            <a:spLocks xmlns:a="http://schemas.openxmlformats.org/drawingml/2006/main" noGrp="1"/>
          </p:cNvSpPr>
          <p:nvPr/>
        </p:nvSpPr>
        <p:spPr>
          <a:xfrm xmlns:a="http://schemas.openxmlformats.org/drawingml/2006/main">
            <a:off x="1118235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1716A"/>
                </a:solidFill>
              </a:defRPr>
            </a:pPr>
            <a:r>
              <a:rPr sz="900" b="0">
                <a:solidFill>
                  <a:srgbClr val="61716A"/>
                </a:solidFill>
              </a:rPr>
              <a:t>06</a:t>
            </a:r>
          </a:p>
        </p:txBody>
      </p:sp>
      <p:sp>
        <p:nvSpPr>
          <p:cNvPr id="4" name="footer">
            <a:extLst xmlns:a="http://schemas.openxmlformats.org/drawingml/2006/main">
              <a:ext uri="{FF2B5EF4-FFF2-40B4-BE49-F238E27FC236}">
                <a16:creationId xmlns:a16="http://schemas.microsoft.com/office/drawing/2014/main" id="{D02BC6B3-1525-40F0-BFEB-497307E3C314}"/>
              </a:ext>
            </a:extLst>
          </p:cNvPr>
          <p:cNvSpPr>
            <a:spLocks xmlns:a="http://schemas.openxmlformats.org/drawingml/2006/main" noGrp="1"/>
          </p:cNvSpPr>
          <p:nvPr/>
        </p:nvSpPr>
        <p:spPr>
          <a:xfrm xmlns:a="http://schemas.openxmlformats.org/drawingml/2006/main">
            <a:off x="514350" y="63627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61716A"/>
                </a:solidFill>
              </a:defRPr>
            </a:pPr>
            <a:r>
              <a:rPr sz="900" b="1">
                <a:solidFill>
                  <a:srgbClr val="61716A"/>
                </a:solidFill>
              </a:rPr>
              <a:t>SIGNALFORGE SOC LAB</a:t>
            </a:r>
          </a:p>
        </p:txBody>
      </p:sp>
      <p:sp>
        <p:nvSpPr>
          <p:cNvPr id="5" name="">
            <a:extLst xmlns:a="http://schemas.openxmlformats.org/drawingml/2006/main">
              <a:ext uri="{FF2B5EF4-FFF2-40B4-BE49-F238E27FC236}">
                <a16:creationId xmlns:a16="http://schemas.microsoft.com/office/drawing/2014/main" id="{071938C0-1B64-4844-8F37-660C68FFFC0E}"/>
              </a:ext>
            </a:extLst>
          </p:cNvPr>
          <p:cNvSpPr>
            <a:spLocks xmlns:a="http://schemas.openxmlformats.org/drawingml/2006/main" noGrp="1"/>
          </p:cNvSpPr>
          <p:nvPr/>
        </p:nvSpPr>
        <p:spPr>
          <a:xfrm xmlns:a="http://schemas.openxmlformats.org/drawingml/2006/main">
            <a:off x="3743325" y="3048000"/>
            <a:ext cx="552450" cy="304800"/>
          </a:xfrm>
          <a:prstGeom xmlns:a="http://schemas.openxmlformats.org/drawingml/2006/main" prst="rightArrow">
            <a:avLst/>
          </a:prstGeom>
          <a:solidFill xmlns:a="http://schemas.openxmlformats.org/drawingml/2006/main">
            <a:srgbClr val="B6F04A"/>
          </a:solidFill>
          <a:ln xmlns:a="http://schemas.openxmlformats.org/drawingml/2006/main" w="0">
            <a:solidFill>
              <a:srgbClr val="B6F04A"/>
            </a:solidFill>
            <a:prstDash val="solid"/>
          </a:ln>
        </p:spPr>
      </p:sp>
      <p:sp>
        <p:nvSpPr>
          <p:cNvPr id="6" name="signal-0">
            <a:extLst xmlns:a="http://schemas.openxmlformats.org/drawingml/2006/main">
              <a:ext uri="{FF2B5EF4-FFF2-40B4-BE49-F238E27FC236}">
                <a16:creationId xmlns:a16="http://schemas.microsoft.com/office/drawing/2014/main" id="{817025CB-B225-4889-B5AD-D362A6FF29E9}"/>
              </a:ext>
            </a:extLst>
          </p:cNvPr>
          <p:cNvSpPr>
            <a:spLocks xmlns:a="http://schemas.openxmlformats.org/drawingml/2006/main" noGrp="1"/>
          </p:cNvSpPr>
          <p:nvPr/>
        </p:nvSpPr>
        <p:spPr>
          <a:xfrm xmlns:a="http://schemas.openxmlformats.org/drawingml/2006/main">
            <a:off x="619125" y="1952625"/>
            <a:ext cx="3143250" cy="2857500"/>
          </a:xfrm>
          <a:prstGeom xmlns:a="http://schemas.openxmlformats.org/drawingml/2006/main" prst="roundRect">
            <a:avLst>
              <a:gd name="adj" fmla="val 4000"/>
            </a:avLst>
          </a:prstGeom>
          <a:solidFill xmlns:a="http://schemas.openxmlformats.org/drawingml/2006/main">
            <a:srgbClr val="EDF2F0"/>
          </a:solidFill>
          <a:ln xmlns:a="http://schemas.openxmlformats.org/drawingml/2006/main" w="9525">
            <a:solidFill>
              <a:srgbClr val="BCC9C3"/>
            </a:solidFill>
            <a:prstDash val="solid"/>
          </a:ln>
        </p:spPr>
      </p:sp>
      <p:sp>
        <p:nvSpPr>
          <p:cNvPr id="7" name="signal-number-0">
            <a:extLst xmlns:a="http://schemas.openxmlformats.org/drawingml/2006/main">
              <a:ext uri="{FF2B5EF4-FFF2-40B4-BE49-F238E27FC236}">
                <a16:creationId xmlns:a16="http://schemas.microsoft.com/office/drawing/2014/main" id="{EBEF7271-7272-4376-9A90-FBF0C6AF2347}"/>
              </a:ext>
            </a:extLst>
          </p:cNvPr>
          <p:cNvSpPr>
            <a:spLocks xmlns:a="http://schemas.openxmlformats.org/drawingml/2006/main" noGrp="1"/>
          </p:cNvSpPr>
          <p:nvPr/>
        </p:nvSpPr>
        <p:spPr>
          <a:xfrm xmlns:a="http://schemas.openxmlformats.org/drawingml/2006/main">
            <a:off x="828675" y="2133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B16A00"/>
                </a:solidFill>
              </a:defRPr>
            </a:pPr>
            <a:r>
              <a:rPr sz="2550" b="1">
                <a:solidFill>
                  <a:srgbClr val="B16A00"/>
                </a:solidFill>
              </a:rPr>
              <a:t>1</a:t>
            </a:r>
          </a:p>
        </p:txBody>
      </p:sp>
      <p:sp>
        <p:nvSpPr>
          <p:cNvPr id="8" name="signal-title-0">
            <a:extLst xmlns:a="http://schemas.openxmlformats.org/drawingml/2006/main">
              <a:ext uri="{FF2B5EF4-FFF2-40B4-BE49-F238E27FC236}">
                <a16:creationId xmlns:a16="http://schemas.microsoft.com/office/drawing/2014/main" id="{550A2015-5666-432F-89C5-FCE58AB2509F}"/>
              </a:ext>
            </a:extLst>
          </p:cNvPr>
          <p:cNvSpPr>
            <a:spLocks xmlns:a="http://schemas.openxmlformats.org/drawingml/2006/main" noGrp="1"/>
          </p:cNvSpPr>
          <p:nvPr/>
        </p:nvSpPr>
        <p:spPr>
          <a:xfrm xmlns:a="http://schemas.openxmlformats.org/drawingml/2006/main">
            <a:off x="828675" y="2781300"/>
            <a:ext cx="2724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71A14"/>
                </a:solidFill>
              </a:defRPr>
            </a:pPr>
            <a:r>
              <a:rPr sz="1950" b="1">
                <a:solidFill>
                  <a:srgbClr val="071A14"/>
                </a:solidFill>
              </a:rPr>
              <a:t>Delivered phish</a:t>
            </a:r>
          </a:p>
        </p:txBody>
      </p:sp>
      <p:sp>
        <p:nvSpPr>
          <p:cNvPr id="9" name="signal-source-0">
            <a:extLst xmlns:a="http://schemas.openxmlformats.org/drawingml/2006/main">
              <a:ext uri="{FF2B5EF4-FFF2-40B4-BE49-F238E27FC236}">
                <a16:creationId xmlns:a16="http://schemas.microsoft.com/office/drawing/2014/main" id="{2FF08295-BEB2-4454-B369-FF3C57B66D4F}"/>
              </a:ext>
            </a:extLst>
          </p:cNvPr>
          <p:cNvSpPr>
            <a:spLocks xmlns:a="http://schemas.openxmlformats.org/drawingml/2006/main" noGrp="1"/>
          </p:cNvSpPr>
          <p:nvPr/>
        </p:nvSpPr>
        <p:spPr>
          <a:xfrm xmlns:a="http://schemas.openxmlformats.org/drawingml/2006/main">
            <a:off x="828675" y="3476625"/>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6734D"/>
                </a:solidFill>
              </a:defRPr>
            </a:pPr>
            <a:r>
              <a:rPr sz="1350" b="1">
                <a:solidFill>
                  <a:srgbClr val="16734D"/>
                </a:solidFill>
              </a:rPr>
              <a:t>Proofpoint</a:t>
            </a:r>
          </a:p>
        </p:txBody>
      </p:sp>
      <p:sp>
        <p:nvSpPr>
          <p:cNvPr id="10" name="signal-mitre-0">
            <a:extLst xmlns:a="http://schemas.openxmlformats.org/drawingml/2006/main">
              <a:ext uri="{FF2B5EF4-FFF2-40B4-BE49-F238E27FC236}">
                <a16:creationId xmlns:a16="http://schemas.microsoft.com/office/drawing/2014/main" id="{BE5DEF42-2A17-409D-8F93-71C21C653ADE}"/>
              </a:ext>
            </a:extLst>
          </p:cNvPr>
          <p:cNvSpPr>
            <a:spLocks xmlns:a="http://schemas.openxmlformats.org/drawingml/2006/main" noGrp="1"/>
          </p:cNvSpPr>
          <p:nvPr/>
        </p:nvSpPr>
        <p:spPr>
          <a:xfrm xmlns:a="http://schemas.openxmlformats.org/drawingml/2006/main">
            <a:off x="828675" y="394335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61716A"/>
                </a:solidFill>
              </a:defRPr>
            </a:pPr>
            <a:r>
              <a:rPr sz="1350" b="1">
                <a:solidFill>
                  <a:srgbClr val="61716A"/>
                </a:solidFill>
              </a:rPr>
              <a:t>T1566.002</a:t>
            </a:r>
          </a:p>
        </p:txBody>
      </p:sp>
      <p:sp>
        <p:nvSpPr>
          <p:cNvPr id="11" name="">
            <a:extLst xmlns:a="http://schemas.openxmlformats.org/drawingml/2006/main">
              <a:ext uri="{FF2B5EF4-FFF2-40B4-BE49-F238E27FC236}">
                <a16:creationId xmlns:a16="http://schemas.microsoft.com/office/drawing/2014/main" id="{74CBC930-7851-472C-B69B-5C1ED5332C2E}"/>
              </a:ext>
            </a:extLst>
          </p:cNvPr>
          <p:cNvSpPr>
            <a:spLocks xmlns:a="http://schemas.openxmlformats.org/drawingml/2006/main" noGrp="1"/>
          </p:cNvSpPr>
          <p:nvPr/>
        </p:nvSpPr>
        <p:spPr>
          <a:xfrm xmlns:a="http://schemas.openxmlformats.org/drawingml/2006/main">
            <a:off x="7572375" y="3048000"/>
            <a:ext cx="552450" cy="304800"/>
          </a:xfrm>
          <a:prstGeom xmlns:a="http://schemas.openxmlformats.org/drawingml/2006/main" prst="rightArrow">
            <a:avLst/>
          </a:prstGeom>
          <a:solidFill xmlns:a="http://schemas.openxmlformats.org/drawingml/2006/main">
            <a:srgbClr val="B6F04A"/>
          </a:solidFill>
          <a:ln xmlns:a="http://schemas.openxmlformats.org/drawingml/2006/main" w="0">
            <a:solidFill>
              <a:srgbClr val="B6F04A"/>
            </a:solidFill>
            <a:prstDash val="solid"/>
          </a:ln>
        </p:spPr>
      </p:sp>
      <p:sp>
        <p:nvSpPr>
          <p:cNvPr id="12" name="signal-1">
            <a:extLst xmlns:a="http://schemas.openxmlformats.org/drawingml/2006/main">
              <a:ext uri="{FF2B5EF4-FFF2-40B4-BE49-F238E27FC236}">
                <a16:creationId xmlns:a16="http://schemas.microsoft.com/office/drawing/2014/main" id="{5B34DC45-17CE-4F0A-9271-E743DAB5BD52}"/>
              </a:ext>
            </a:extLst>
          </p:cNvPr>
          <p:cNvSpPr>
            <a:spLocks xmlns:a="http://schemas.openxmlformats.org/drawingml/2006/main" noGrp="1"/>
          </p:cNvSpPr>
          <p:nvPr/>
        </p:nvSpPr>
        <p:spPr>
          <a:xfrm xmlns:a="http://schemas.openxmlformats.org/drawingml/2006/main">
            <a:off x="4448175" y="1952625"/>
            <a:ext cx="3143250" cy="2857500"/>
          </a:xfrm>
          <a:prstGeom xmlns:a="http://schemas.openxmlformats.org/drawingml/2006/main" prst="roundRect">
            <a:avLst>
              <a:gd name="adj" fmla="val 4000"/>
            </a:avLst>
          </a:prstGeom>
          <a:solidFill xmlns:a="http://schemas.openxmlformats.org/drawingml/2006/main">
            <a:srgbClr val="EDF2F0"/>
          </a:solidFill>
          <a:ln xmlns:a="http://schemas.openxmlformats.org/drawingml/2006/main" w="9525">
            <a:solidFill>
              <a:srgbClr val="BCC9C3"/>
            </a:solidFill>
            <a:prstDash val="solid"/>
          </a:ln>
        </p:spPr>
      </p:sp>
      <p:sp>
        <p:nvSpPr>
          <p:cNvPr id="13" name="signal-number-1">
            <a:extLst xmlns:a="http://schemas.openxmlformats.org/drawingml/2006/main">
              <a:ext uri="{FF2B5EF4-FFF2-40B4-BE49-F238E27FC236}">
                <a16:creationId xmlns:a16="http://schemas.microsoft.com/office/drawing/2014/main" id="{BDEFBF70-3B44-4CDF-889B-BDF33AE5C5C4}"/>
              </a:ext>
            </a:extLst>
          </p:cNvPr>
          <p:cNvSpPr>
            <a:spLocks xmlns:a="http://schemas.openxmlformats.org/drawingml/2006/main" noGrp="1"/>
          </p:cNvSpPr>
          <p:nvPr/>
        </p:nvSpPr>
        <p:spPr>
          <a:xfrm xmlns:a="http://schemas.openxmlformats.org/drawingml/2006/main">
            <a:off x="4657725" y="2133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C53B35"/>
                </a:solidFill>
              </a:defRPr>
            </a:pPr>
            <a:r>
              <a:rPr sz="2550" b="1">
                <a:solidFill>
                  <a:srgbClr val="C53B35"/>
                </a:solidFill>
              </a:rPr>
              <a:t>2</a:t>
            </a:r>
          </a:p>
        </p:txBody>
      </p:sp>
      <p:sp>
        <p:nvSpPr>
          <p:cNvPr id="14" name="signal-title-1">
            <a:extLst xmlns:a="http://schemas.openxmlformats.org/drawingml/2006/main">
              <a:ext uri="{FF2B5EF4-FFF2-40B4-BE49-F238E27FC236}">
                <a16:creationId xmlns:a16="http://schemas.microsoft.com/office/drawing/2014/main" id="{59070076-BFCC-4BE6-B23D-46B37BEAEAB5}"/>
              </a:ext>
            </a:extLst>
          </p:cNvPr>
          <p:cNvSpPr>
            <a:spLocks xmlns:a="http://schemas.openxmlformats.org/drawingml/2006/main" noGrp="1"/>
          </p:cNvSpPr>
          <p:nvPr/>
        </p:nvSpPr>
        <p:spPr>
          <a:xfrm xmlns:a="http://schemas.openxmlformats.org/drawingml/2006/main">
            <a:off x="4657725" y="2781300"/>
            <a:ext cx="2724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71A14"/>
                </a:solidFill>
              </a:defRPr>
            </a:pPr>
            <a:r>
              <a:rPr sz="1950" b="1">
                <a:solidFill>
                  <a:srgbClr val="071A14"/>
                </a:solidFill>
              </a:rPr>
              <a:t>Encoded PowerShell</a:t>
            </a:r>
          </a:p>
        </p:txBody>
      </p:sp>
      <p:sp>
        <p:nvSpPr>
          <p:cNvPr id="15" name="signal-source-1">
            <a:extLst xmlns:a="http://schemas.openxmlformats.org/drawingml/2006/main">
              <a:ext uri="{FF2B5EF4-FFF2-40B4-BE49-F238E27FC236}">
                <a16:creationId xmlns:a16="http://schemas.microsoft.com/office/drawing/2014/main" id="{0731E4FC-DADC-4E32-AC69-D2477BA7887F}"/>
              </a:ext>
            </a:extLst>
          </p:cNvPr>
          <p:cNvSpPr>
            <a:spLocks xmlns:a="http://schemas.openxmlformats.org/drawingml/2006/main" noGrp="1"/>
          </p:cNvSpPr>
          <p:nvPr/>
        </p:nvSpPr>
        <p:spPr>
          <a:xfrm xmlns:a="http://schemas.openxmlformats.org/drawingml/2006/main">
            <a:off x="4657725" y="3476625"/>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6734D"/>
                </a:solidFill>
              </a:defRPr>
            </a:pPr>
            <a:r>
              <a:rPr sz="1350" b="1">
                <a:solidFill>
                  <a:srgbClr val="16734D"/>
                </a:solidFill>
              </a:rPr>
              <a:t>CrowdStrike</a:t>
            </a:r>
          </a:p>
        </p:txBody>
      </p:sp>
      <p:sp>
        <p:nvSpPr>
          <p:cNvPr id="16" name="signal-mitre-1">
            <a:extLst xmlns:a="http://schemas.openxmlformats.org/drawingml/2006/main">
              <a:ext uri="{FF2B5EF4-FFF2-40B4-BE49-F238E27FC236}">
                <a16:creationId xmlns:a16="http://schemas.microsoft.com/office/drawing/2014/main" id="{5DEDE8A2-6D95-4CC4-A65F-EA4D06601539}"/>
              </a:ext>
            </a:extLst>
          </p:cNvPr>
          <p:cNvSpPr>
            <a:spLocks xmlns:a="http://schemas.openxmlformats.org/drawingml/2006/main" noGrp="1"/>
          </p:cNvSpPr>
          <p:nvPr/>
        </p:nvSpPr>
        <p:spPr>
          <a:xfrm xmlns:a="http://schemas.openxmlformats.org/drawingml/2006/main">
            <a:off x="4657725" y="394335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61716A"/>
                </a:solidFill>
              </a:defRPr>
            </a:pPr>
            <a:r>
              <a:rPr sz="1350" b="1">
                <a:solidFill>
                  <a:srgbClr val="61716A"/>
                </a:solidFill>
              </a:rPr>
              <a:t>T1059.001</a:t>
            </a:r>
          </a:p>
        </p:txBody>
      </p:sp>
      <p:sp>
        <p:nvSpPr>
          <p:cNvPr id="17" name="signal-2">
            <a:extLst xmlns:a="http://schemas.openxmlformats.org/drawingml/2006/main">
              <a:ext uri="{FF2B5EF4-FFF2-40B4-BE49-F238E27FC236}">
                <a16:creationId xmlns:a16="http://schemas.microsoft.com/office/drawing/2014/main" id="{0D8150CE-1D97-459D-B5EA-DD9F284D0217}"/>
              </a:ext>
            </a:extLst>
          </p:cNvPr>
          <p:cNvSpPr>
            <a:spLocks xmlns:a="http://schemas.openxmlformats.org/drawingml/2006/main" noGrp="1"/>
          </p:cNvSpPr>
          <p:nvPr/>
        </p:nvSpPr>
        <p:spPr>
          <a:xfrm xmlns:a="http://schemas.openxmlformats.org/drawingml/2006/main">
            <a:off x="8277225" y="1952625"/>
            <a:ext cx="3143250" cy="2857500"/>
          </a:xfrm>
          <a:prstGeom xmlns:a="http://schemas.openxmlformats.org/drawingml/2006/main" prst="roundRect">
            <a:avLst>
              <a:gd name="adj" fmla="val 4000"/>
            </a:avLst>
          </a:prstGeom>
          <a:solidFill xmlns:a="http://schemas.openxmlformats.org/drawingml/2006/main">
            <a:srgbClr val="EDF2F0"/>
          </a:solidFill>
          <a:ln xmlns:a="http://schemas.openxmlformats.org/drawingml/2006/main" w="9525">
            <a:solidFill>
              <a:srgbClr val="BCC9C3"/>
            </a:solidFill>
            <a:prstDash val="solid"/>
          </a:ln>
        </p:spPr>
      </p:sp>
      <p:sp>
        <p:nvSpPr>
          <p:cNvPr id="18" name="signal-number-2">
            <a:extLst xmlns:a="http://schemas.openxmlformats.org/drawingml/2006/main">
              <a:ext uri="{FF2B5EF4-FFF2-40B4-BE49-F238E27FC236}">
                <a16:creationId xmlns:a16="http://schemas.microsoft.com/office/drawing/2014/main" id="{C858D03D-9B55-4AD8-85D4-B9F2451C2E2C}"/>
              </a:ext>
            </a:extLst>
          </p:cNvPr>
          <p:cNvSpPr>
            <a:spLocks xmlns:a="http://schemas.openxmlformats.org/drawingml/2006/main" noGrp="1"/>
          </p:cNvSpPr>
          <p:nvPr/>
        </p:nvSpPr>
        <p:spPr>
          <a:xfrm xmlns:a="http://schemas.openxmlformats.org/drawingml/2006/main">
            <a:off x="8486775" y="2133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C53B35"/>
                </a:solidFill>
              </a:defRPr>
            </a:pPr>
            <a:r>
              <a:rPr sz="2550" b="1">
                <a:solidFill>
                  <a:srgbClr val="C53B35"/>
                </a:solidFill>
              </a:rPr>
              <a:t>3</a:t>
            </a:r>
          </a:p>
        </p:txBody>
      </p:sp>
      <p:sp>
        <p:nvSpPr>
          <p:cNvPr id="19" name="signal-title-2">
            <a:extLst xmlns:a="http://schemas.openxmlformats.org/drawingml/2006/main">
              <a:ext uri="{FF2B5EF4-FFF2-40B4-BE49-F238E27FC236}">
                <a16:creationId xmlns:a16="http://schemas.microsoft.com/office/drawing/2014/main" id="{1C9B1F73-21ED-4ADC-A928-A343D27FB179}"/>
              </a:ext>
            </a:extLst>
          </p:cNvPr>
          <p:cNvSpPr>
            <a:spLocks xmlns:a="http://schemas.openxmlformats.org/drawingml/2006/main" noGrp="1"/>
          </p:cNvSpPr>
          <p:nvPr/>
        </p:nvSpPr>
        <p:spPr>
          <a:xfrm xmlns:a="http://schemas.openxmlformats.org/drawingml/2006/main">
            <a:off x="8486775" y="2781300"/>
            <a:ext cx="2724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071A14"/>
                </a:solidFill>
              </a:defRPr>
            </a:pPr>
            <a:r>
              <a:rPr sz="1950" b="1">
                <a:solidFill>
                  <a:srgbClr val="071A14"/>
                </a:solidFill>
              </a:rPr>
              <a:t>LSASS access</a:t>
            </a:r>
          </a:p>
        </p:txBody>
      </p:sp>
      <p:sp>
        <p:nvSpPr>
          <p:cNvPr id="20" name="signal-source-2">
            <a:extLst xmlns:a="http://schemas.openxmlformats.org/drawingml/2006/main">
              <a:ext uri="{FF2B5EF4-FFF2-40B4-BE49-F238E27FC236}">
                <a16:creationId xmlns:a16="http://schemas.microsoft.com/office/drawing/2014/main" id="{7B650216-23C2-4494-BFEE-318337D65FCB}"/>
              </a:ext>
            </a:extLst>
          </p:cNvPr>
          <p:cNvSpPr>
            <a:spLocks xmlns:a="http://schemas.openxmlformats.org/drawingml/2006/main" noGrp="1"/>
          </p:cNvSpPr>
          <p:nvPr/>
        </p:nvSpPr>
        <p:spPr>
          <a:xfrm xmlns:a="http://schemas.openxmlformats.org/drawingml/2006/main">
            <a:off x="8486775" y="3476625"/>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6734D"/>
                </a:solidFill>
              </a:defRPr>
            </a:pPr>
            <a:r>
              <a:rPr sz="1350" b="1">
                <a:solidFill>
                  <a:srgbClr val="16734D"/>
                </a:solidFill>
              </a:rPr>
              <a:t>CrowdStrike</a:t>
            </a:r>
          </a:p>
        </p:txBody>
      </p:sp>
      <p:sp>
        <p:nvSpPr>
          <p:cNvPr id="21" name="signal-mitre-2">
            <a:extLst xmlns:a="http://schemas.openxmlformats.org/drawingml/2006/main">
              <a:ext uri="{FF2B5EF4-FFF2-40B4-BE49-F238E27FC236}">
                <a16:creationId xmlns:a16="http://schemas.microsoft.com/office/drawing/2014/main" id="{D0F790CF-1E47-4DBF-9FA2-500FED082ADA}"/>
              </a:ext>
            </a:extLst>
          </p:cNvPr>
          <p:cNvSpPr>
            <a:spLocks xmlns:a="http://schemas.openxmlformats.org/drawingml/2006/main" noGrp="1"/>
          </p:cNvSpPr>
          <p:nvPr/>
        </p:nvSpPr>
        <p:spPr>
          <a:xfrm xmlns:a="http://schemas.openxmlformats.org/drawingml/2006/main">
            <a:off x="8486775" y="394335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61716A"/>
                </a:solidFill>
              </a:defRPr>
            </a:pPr>
            <a:r>
              <a:rPr sz="1350" b="1">
                <a:solidFill>
                  <a:srgbClr val="61716A"/>
                </a:solidFill>
              </a:rPr>
              <a:t>T1003.001</a:t>
            </a:r>
          </a:p>
        </p:txBody>
      </p:sp>
      <p:sp>
        <p:nvSpPr>
          <p:cNvPr id="22" name="text">
            <a:extLst xmlns:a="http://schemas.openxmlformats.org/drawingml/2006/main">
              <a:ext uri="{FF2B5EF4-FFF2-40B4-BE49-F238E27FC236}">
                <a16:creationId xmlns:a16="http://schemas.microsoft.com/office/drawing/2014/main" id="{431EF7D9-DA51-4E00-AA20-126F3D42AA57}"/>
              </a:ext>
            </a:extLst>
          </p:cNvPr>
          <p:cNvSpPr>
            <a:spLocks xmlns:a="http://schemas.openxmlformats.org/drawingml/2006/main" noGrp="1"/>
          </p:cNvSpPr>
          <p:nvPr/>
        </p:nvSpPr>
        <p:spPr>
          <a:xfrm xmlns:a="http://schemas.openxmlformats.org/drawingml/2006/main">
            <a:off x="619125" y="5219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6734D"/>
                </a:solidFill>
              </a:defRPr>
            </a:pPr>
            <a:r>
              <a:rPr sz="1350" b="1">
                <a:solidFill>
                  <a:srgbClr val="16734D"/>
                </a:solidFill>
              </a:rPr>
              <a:t>Analyst decision</a:t>
            </a:r>
          </a:p>
        </p:txBody>
      </p:sp>
      <p:sp>
        <p:nvSpPr>
          <p:cNvPr id="23" name="text">
            <a:extLst xmlns:a="http://schemas.openxmlformats.org/drawingml/2006/main">
              <a:ext uri="{FF2B5EF4-FFF2-40B4-BE49-F238E27FC236}">
                <a16:creationId xmlns:a16="http://schemas.microsoft.com/office/drawing/2014/main" id="{5E857DD6-C733-4C3B-BA21-EEFB7288E5DC}"/>
              </a:ext>
            </a:extLst>
          </p:cNvPr>
          <p:cNvSpPr>
            <a:spLocks xmlns:a="http://schemas.openxmlformats.org/drawingml/2006/main" noGrp="1"/>
          </p:cNvSpPr>
          <p:nvPr/>
        </p:nvSpPr>
        <p:spPr>
          <a:xfrm xmlns:a="http://schemas.openxmlformats.org/drawingml/2006/main">
            <a:off x="619125" y="5524500"/>
            <a:ext cx="1057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071A14"/>
                </a:solidFill>
              </a:defRPr>
            </a:pPr>
            <a:r>
              <a:rPr sz="1875" b="1">
                <a:solidFill>
                  <a:srgbClr val="071A14"/>
                </a:solidFill>
              </a:rPr>
              <a:t>Escalate as probable phishing-led endpoint compromise; preserve evidence and scope the user and host.</a:t>
            </a:r>
          </a:p>
        </p:txBody>
      </p:sp>
    </p:spTree>
    <p:extLst>
      <p:ext uri="{BB962C8B-B14F-4D97-AF65-F5344CB8AC3E}">
        <p14:creationId xmlns:p14="http://schemas.microsoft.com/office/powerpoint/2010/main" val="12323533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icker">
            <a:extLst xmlns:a="http://schemas.openxmlformats.org/drawingml/2006/main">
              <a:ext uri="{FF2B5EF4-FFF2-40B4-BE49-F238E27FC236}">
                <a16:creationId xmlns:a16="http://schemas.microsoft.com/office/drawing/2014/main" id="{139B2B45-A14D-4200-8632-7D1F13E618B1}"/>
              </a:ext>
            </a:extLst>
          </p:cNvPr>
          <p:cNvSpPr>
            <a:spLocks xmlns:a="http://schemas.openxmlformats.org/drawingml/2006/main" noGrp="1"/>
          </p:cNvSpPr>
          <p:nvPr/>
        </p:nvSpPr>
        <p:spPr>
          <a:xfrm xmlns:a="http://schemas.openxmlformats.org/drawingml/2006/main">
            <a:off x="51435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6734D"/>
                </a:solidFill>
              </a:defRPr>
            </a:pPr>
            <a:r>
              <a:rPr sz="1050" b="1">
                <a:solidFill>
                  <a:srgbClr val="16734D"/>
                </a:solidFill>
              </a:rPr>
              <a:t>DETECTION ENGINEERING</a:t>
            </a:r>
          </a:p>
        </p:txBody>
      </p:sp>
      <p:sp>
        <p:nvSpPr>
          <p:cNvPr id="2" name="slide-title">
            <a:extLst xmlns:a="http://schemas.openxmlformats.org/drawingml/2006/main">
              <a:ext uri="{FF2B5EF4-FFF2-40B4-BE49-F238E27FC236}">
                <a16:creationId xmlns:a16="http://schemas.microsoft.com/office/drawing/2014/main" id="{EF01C001-DD2F-4051-8BB5-8F44CFD61E24}"/>
              </a:ext>
            </a:extLst>
          </p:cNvPr>
          <p:cNvSpPr>
            <a:spLocks xmlns:a="http://schemas.openxmlformats.org/drawingml/2006/main" noGrp="1"/>
          </p:cNvSpPr>
          <p:nvPr/>
        </p:nvSpPr>
        <p:spPr>
          <a:xfrm xmlns:a="http://schemas.openxmlformats.org/drawingml/2006/main">
            <a:off x="514350" y="619125"/>
            <a:ext cx="11096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71A14"/>
                </a:solidFill>
              </a:defRPr>
            </a:pPr>
            <a:r>
              <a:rPr sz="3000" b="1">
                <a:solidFill>
                  <a:srgbClr val="071A14"/>
                </a:solidFill>
              </a:rPr>
              <a:t>The SPL pack separates signal design from dashboard polish</a:t>
            </a:r>
          </a:p>
        </p:txBody>
      </p:sp>
      <p:sp>
        <p:nvSpPr>
          <p:cNvPr id="3" name="slide-number">
            <a:extLst xmlns:a="http://schemas.openxmlformats.org/drawingml/2006/main">
              <a:ext uri="{FF2B5EF4-FFF2-40B4-BE49-F238E27FC236}">
                <a16:creationId xmlns:a16="http://schemas.microsoft.com/office/drawing/2014/main" id="{57EBA773-BC50-4253-B5A0-EB2DD9A940B1}"/>
              </a:ext>
            </a:extLst>
          </p:cNvPr>
          <p:cNvSpPr>
            <a:spLocks xmlns:a="http://schemas.openxmlformats.org/drawingml/2006/main" noGrp="1"/>
          </p:cNvSpPr>
          <p:nvPr/>
        </p:nvSpPr>
        <p:spPr>
          <a:xfrm xmlns:a="http://schemas.openxmlformats.org/drawingml/2006/main">
            <a:off x="1118235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1716A"/>
                </a:solidFill>
              </a:defRPr>
            </a:pPr>
            <a:r>
              <a:rPr sz="900" b="0">
                <a:solidFill>
                  <a:srgbClr val="61716A"/>
                </a:solidFill>
              </a:rPr>
              <a:t>07</a:t>
            </a:r>
          </a:p>
        </p:txBody>
      </p:sp>
      <p:sp>
        <p:nvSpPr>
          <p:cNvPr id="4" name="footer">
            <a:extLst xmlns:a="http://schemas.openxmlformats.org/drawingml/2006/main">
              <a:ext uri="{FF2B5EF4-FFF2-40B4-BE49-F238E27FC236}">
                <a16:creationId xmlns:a16="http://schemas.microsoft.com/office/drawing/2014/main" id="{3CAFA2AC-4A73-4A22-AAD5-F8C8F813BF89}"/>
              </a:ext>
            </a:extLst>
          </p:cNvPr>
          <p:cNvSpPr>
            <a:spLocks xmlns:a="http://schemas.openxmlformats.org/drawingml/2006/main" noGrp="1"/>
          </p:cNvSpPr>
          <p:nvPr/>
        </p:nvSpPr>
        <p:spPr>
          <a:xfrm xmlns:a="http://schemas.openxmlformats.org/drawingml/2006/main">
            <a:off x="514350" y="63627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61716A"/>
                </a:solidFill>
              </a:defRPr>
            </a:pPr>
            <a:r>
              <a:rPr sz="900" b="1">
                <a:solidFill>
                  <a:srgbClr val="61716A"/>
                </a:solidFill>
              </a:rPr>
              <a:t>SIGNALFORGE SOC LAB</a:t>
            </a:r>
          </a:p>
        </p:txBody>
      </p:sp>
      <p:sp>
        <p:nvSpPr>
          <p:cNvPr id="5" name="code-field">
            <a:extLst xmlns:a="http://schemas.openxmlformats.org/drawingml/2006/main">
              <a:ext uri="{FF2B5EF4-FFF2-40B4-BE49-F238E27FC236}">
                <a16:creationId xmlns:a16="http://schemas.microsoft.com/office/drawing/2014/main" id="{59F1CFEA-A0E3-49EF-9857-6BBB26B861EB}"/>
              </a:ext>
            </a:extLst>
          </p:cNvPr>
          <p:cNvSpPr>
            <a:spLocks xmlns:a="http://schemas.openxmlformats.org/drawingml/2006/main" noGrp="1"/>
          </p:cNvSpPr>
          <p:nvPr/>
        </p:nvSpPr>
        <p:spPr>
          <a:xfrm xmlns:a="http://schemas.openxmlformats.org/drawingml/2006/main">
            <a:off x="571500" y="1504950"/>
            <a:ext cx="6953250" cy="4095750"/>
          </a:xfrm>
          <a:prstGeom xmlns:a="http://schemas.openxmlformats.org/drawingml/2006/main" prst="rect">
            <a:avLst/>
          </a:prstGeom>
          <a:solidFill xmlns:a="http://schemas.openxmlformats.org/drawingml/2006/main">
            <a:srgbClr val="0B1914"/>
          </a:solidFill>
          <a:ln xmlns:a="http://schemas.openxmlformats.org/drawingml/2006/main" w="0">
            <a:noFill/>
            <a:prstDash val="solid"/>
          </a:ln>
        </p:spPr>
      </p:sp>
      <p:sp>
        <p:nvSpPr>
          <p:cNvPr id="6" name="spl-code">
            <a:extLst xmlns:a="http://schemas.openxmlformats.org/drawingml/2006/main">
              <a:ext uri="{FF2B5EF4-FFF2-40B4-BE49-F238E27FC236}">
                <a16:creationId xmlns:a16="http://schemas.microsoft.com/office/drawing/2014/main" id="{C0617A73-2706-48EE-AB74-D6EF8F682E84}"/>
              </a:ext>
            </a:extLst>
          </p:cNvPr>
          <p:cNvSpPr>
            <a:spLocks xmlns:a="http://schemas.openxmlformats.org/drawingml/2006/main" noGrp="1"/>
          </p:cNvSpPr>
          <p:nvPr/>
        </p:nvSpPr>
        <p:spPr>
          <a:xfrm xmlns:a="http://schemas.openxmlformats.org/drawingml/2006/main">
            <a:off x="828675" y="1762125"/>
            <a:ext cx="6429375" cy="3476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CBF7DD"/>
                </a:solidFill>
              </a:defRPr>
            </a:pPr>
            <a:r>
              <a:rPr sz="1350" b="0">
                <a:solidFill>
                  <a:srgbClr val="CBF7DD"/>
                </a:solidFill>
              </a:rPr>
              <a:t>index=edr sourcetype="crowdstrike:events"</a:t>
            </a:r>
          </a:p>
          <a:p xmlns:a="http://schemas.openxmlformats.org/drawingml/2006/main">
            <a:pPr algn="l">
              <a:defRPr sz="1350" b="0">
                <a:solidFill>
                  <a:srgbClr val="CBF7DD"/>
                </a:solidFill>
              </a:defRPr>
            </a:pPr>
            <a:r>
              <a:rPr sz="1350" b="0">
                <a:solidFill>
                  <a:srgbClr val="CBF7DD"/>
                </a:solidFill>
              </a:rPr>
              <a:t>| eval process=lower(FileName), parent=lower(ParentBaseFileName)</a:t>
            </a:r>
          </a:p>
          <a:p xmlns:a="http://schemas.openxmlformats.org/drawingml/2006/main">
            <a:pPr algn="l">
              <a:defRPr sz="1350" b="0">
                <a:solidFill>
                  <a:srgbClr val="CBF7DD"/>
                </a:solidFill>
              </a:defRPr>
            </a:pPr>
            <a:r>
              <a:rPr sz="1350" b="0">
                <a:solidFill>
                  <a:srgbClr val="CBF7DD"/>
                </a:solidFill>
              </a:rPr>
              <a:t>| where process="powershell.exe"</a:t>
            </a:r>
          </a:p>
          <a:p xmlns:a="http://schemas.openxmlformats.org/drawingml/2006/main">
            <a:pPr algn="l">
              <a:defRPr sz="1350" b="0">
                <a:solidFill>
                  <a:srgbClr val="CBF7DD"/>
                </a:solidFill>
              </a:defRPr>
            </a:pPr>
            <a:r>
              <a:rPr sz="1350" b="0">
                <a:solidFill>
                  <a:srgbClr val="CBF7DD"/>
                </a:solidFill>
              </a:rPr>
              <a:t>  AND parent IN ("winword.exe","excel.exe")</a:t>
            </a:r>
          </a:p>
          <a:p xmlns:a="http://schemas.openxmlformats.org/drawingml/2006/main">
            <a:pPr algn="l">
              <a:defRPr sz="1350" b="0">
                <a:solidFill>
                  <a:srgbClr val="CBF7DD"/>
                </a:solidFill>
              </a:defRPr>
            </a:pPr>
            <a:r>
              <a:rPr sz="1350" b="0">
                <a:solidFill>
                  <a:srgbClr val="CBF7DD"/>
                </a:solidFill>
              </a:rPr>
              <a:t>| stats count values(CommandLine) BY aid ComputerName UserName</a:t>
            </a:r>
          </a:p>
          <a:p xmlns:a="http://schemas.openxmlformats.org/drawingml/2006/main">
            <a:pPr algn="l">
              <a:defRPr sz="1350" b="0">
                <a:solidFill>
                  <a:srgbClr val="CBF7DD"/>
                </a:solidFill>
              </a:defRPr>
            </a:pPr>
            <a:r>
              <a:rPr sz="1350" b="0">
                <a:solidFill>
                  <a:srgbClr val="CBF7DD"/>
                </a:solidFill>
              </a:rPr>
              <a:t>| eval rule_id="SOC-EDR-001", severity="critical"</a:t>
            </a:r>
          </a:p>
        </p:txBody>
      </p:sp>
      <p:sp>
        <p:nvSpPr>
          <p:cNvPr id="7" name="text">
            <a:extLst xmlns:a="http://schemas.openxmlformats.org/drawingml/2006/main">
              <a:ext uri="{FF2B5EF4-FFF2-40B4-BE49-F238E27FC236}">
                <a16:creationId xmlns:a16="http://schemas.microsoft.com/office/drawing/2014/main" id="{EC7F1D33-E2F2-4A34-88F8-B1B502F79ED4}"/>
              </a:ext>
            </a:extLst>
          </p:cNvPr>
          <p:cNvSpPr>
            <a:spLocks xmlns:a="http://schemas.openxmlformats.org/drawingml/2006/main" noGrp="1"/>
          </p:cNvSpPr>
          <p:nvPr/>
        </p:nvSpPr>
        <p:spPr>
          <a:xfrm xmlns:a="http://schemas.openxmlformats.org/drawingml/2006/main">
            <a:off x="8048625" y="15716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6734D"/>
                </a:solidFill>
              </a:defRPr>
            </a:pPr>
            <a:r>
              <a:rPr sz="1800" b="1">
                <a:solidFill>
                  <a:srgbClr val="16734D"/>
                </a:solidFill>
              </a:rPr>
              <a:t>Design review</a:t>
            </a:r>
          </a:p>
        </p:txBody>
      </p:sp>
      <p:sp>
        <p:nvSpPr>
          <p:cNvPr id="8" name="bullets">
            <a:extLst xmlns:a="http://schemas.openxmlformats.org/drawingml/2006/main">
              <a:ext uri="{FF2B5EF4-FFF2-40B4-BE49-F238E27FC236}">
                <a16:creationId xmlns:a16="http://schemas.microsoft.com/office/drawing/2014/main" id="{03415ABA-D640-40BB-8262-5335C41AD5E9}"/>
              </a:ext>
            </a:extLst>
          </p:cNvPr>
          <p:cNvSpPr>
            <a:spLocks xmlns:a="http://schemas.openxmlformats.org/drawingml/2006/main" noGrp="1"/>
          </p:cNvSpPr>
          <p:nvPr/>
        </p:nvSpPr>
        <p:spPr>
          <a:xfrm xmlns:a="http://schemas.openxmlformats.org/drawingml/2006/main">
            <a:off x="8048625" y="2143125"/>
            <a:ext cx="333375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071A14"/>
                </a:solidFill>
              </a:defRPr>
            </a:pPr>
            <a:r>
              <a:rPr sz="1575" b="0">
                <a:solidFill>
                  <a:srgbClr val="071A14"/>
                </a:solidFill>
              </a:rPr>
              <a:t>• Normalize before filtering</a:t>
            </a:r>
          </a:p>
          <a:p xmlns:a="http://schemas.openxmlformats.org/drawingml/2006/main">
            <a:pPr algn="l">
              <a:defRPr sz="1575" b="0">
                <a:solidFill>
                  <a:srgbClr val="071A14"/>
                </a:solidFill>
              </a:defRPr>
            </a:pPr>
            <a:r>
              <a:rPr sz="1575" b="0">
                <a:solidFill>
                  <a:srgbClr val="071A14"/>
                </a:solidFill>
              </a:rPr>
              <a:t>• Use parent-child context</a:t>
            </a:r>
          </a:p>
          <a:p xmlns:a="http://schemas.openxmlformats.org/drawingml/2006/main">
            <a:pPr algn="l">
              <a:defRPr sz="1575" b="0">
                <a:solidFill>
                  <a:srgbClr val="071A14"/>
                </a:solidFill>
              </a:defRPr>
            </a:pPr>
            <a:r>
              <a:rPr sz="1575" b="0">
                <a:solidFill>
                  <a:srgbClr val="071A14"/>
                </a:solidFill>
              </a:rPr>
              <a:t>• Aggregate by stable endpoint ID</a:t>
            </a:r>
          </a:p>
          <a:p xmlns:a="http://schemas.openxmlformats.org/drawingml/2006/main">
            <a:pPr algn="l">
              <a:defRPr sz="1575" b="0">
                <a:solidFill>
                  <a:srgbClr val="071A14"/>
                </a:solidFill>
              </a:defRPr>
            </a:pPr>
            <a:r>
              <a:rPr sz="1575" b="0">
                <a:solidFill>
                  <a:srgbClr val="071A14"/>
                </a:solidFill>
              </a:rPr>
              <a:t>• Attach rule and severity metadata</a:t>
            </a:r>
          </a:p>
          <a:p xmlns:a="http://schemas.openxmlformats.org/drawingml/2006/main">
            <a:pPr algn="l">
              <a:defRPr sz="1575" b="0">
                <a:solidFill>
                  <a:srgbClr val="071A14"/>
                </a:solidFill>
              </a:defRPr>
            </a:pPr>
            <a:r>
              <a:rPr sz="1575" b="0">
                <a:solidFill>
                  <a:srgbClr val="071A14"/>
                </a:solidFill>
              </a:rPr>
              <a:t>• Test positive and benign cases</a:t>
            </a:r>
          </a:p>
        </p:txBody>
      </p:sp>
      <p:sp>
        <p:nvSpPr>
          <p:cNvPr id="9" name="count-box">
            <a:extLst xmlns:a="http://schemas.openxmlformats.org/drawingml/2006/main">
              <a:ext uri="{FF2B5EF4-FFF2-40B4-BE49-F238E27FC236}">
                <a16:creationId xmlns:a16="http://schemas.microsoft.com/office/drawing/2014/main" id="{5A0942B6-8F34-4770-8561-4EE287723432}"/>
              </a:ext>
            </a:extLst>
          </p:cNvPr>
          <p:cNvSpPr>
            <a:spLocks xmlns:a="http://schemas.openxmlformats.org/drawingml/2006/main" noGrp="1"/>
          </p:cNvSpPr>
          <p:nvPr/>
        </p:nvSpPr>
        <p:spPr>
          <a:xfrm xmlns:a="http://schemas.openxmlformats.org/drawingml/2006/main">
            <a:off x="8048625" y="5010150"/>
            <a:ext cx="3190875" cy="590550"/>
          </a:xfrm>
          <a:prstGeom xmlns:a="http://schemas.openxmlformats.org/drawingml/2006/main" prst="rect">
            <a:avLst/>
          </a:prstGeom>
          <a:solidFill xmlns:a="http://schemas.openxmlformats.org/drawingml/2006/main">
            <a:srgbClr val="E3F7EC"/>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44EEFD29-C6EE-4012-A1B4-E2650B2895A7}"/>
              </a:ext>
            </a:extLst>
          </p:cNvPr>
          <p:cNvSpPr>
            <a:spLocks xmlns:a="http://schemas.openxmlformats.org/drawingml/2006/main" noGrp="1"/>
          </p:cNvSpPr>
          <p:nvPr/>
        </p:nvSpPr>
        <p:spPr>
          <a:xfrm xmlns:a="http://schemas.openxmlformats.org/drawingml/2006/main">
            <a:off x="8258175" y="50958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6734D"/>
                </a:solidFill>
              </a:defRPr>
            </a:pPr>
            <a:r>
              <a:rPr sz="1725" b="1">
                <a:solidFill>
                  <a:srgbClr val="16734D"/>
                </a:solidFill>
              </a:rPr>
              <a:t>6 detections + 1 hunt</a:t>
            </a:r>
          </a:p>
        </p:txBody>
      </p:sp>
    </p:spTree>
    <p:extLst>
      <p:ext uri="{BB962C8B-B14F-4D97-AF65-F5344CB8AC3E}">
        <p14:creationId xmlns:p14="http://schemas.microsoft.com/office/powerpoint/2010/main" val="3001859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icker">
            <a:extLst xmlns:a="http://schemas.openxmlformats.org/drawingml/2006/main">
              <a:ext uri="{FF2B5EF4-FFF2-40B4-BE49-F238E27FC236}">
                <a16:creationId xmlns:a16="http://schemas.microsoft.com/office/drawing/2014/main" id="{827F85DA-8C33-4FF4-B7AF-0A48FCDEF74A}"/>
              </a:ext>
            </a:extLst>
          </p:cNvPr>
          <p:cNvSpPr>
            <a:spLocks xmlns:a="http://schemas.openxmlformats.org/drawingml/2006/main" noGrp="1"/>
          </p:cNvSpPr>
          <p:nvPr/>
        </p:nvSpPr>
        <p:spPr>
          <a:xfrm xmlns:a="http://schemas.openxmlformats.org/drawingml/2006/main">
            <a:off x="51435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6734D"/>
                </a:solidFill>
              </a:defRPr>
            </a:pPr>
            <a:r>
              <a:rPr sz="1050" b="1">
                <a:solidFill>
                  <a:srgbClr val="16734D"/>
                </a:solidFill>
              </a:rPr>
              <a:t>CROWDSTRIKE BOUNDARY</a:t>
            </a:r>
          </a:p>
        </p:txBody>
      </p:sp>
      <p:sp>
        <p:nvSpPr>
          <p:cNvPr id="2" name="slide-title">
            <a:extLst xmlns:a="http://schemas.openxmlformats.org/drawingml/2006/main">
              <a:ext uri="{FF2B5EF4-FFF2-40B4-BE49-F238E27FC236}">
                <a16:creationId xmlns:a16="http://schemas.microsoft.com/office/drawing/2014/main" id="{576FB63A-D946-48D5-8DF1-639DBFD80FD9}"/>
              </a:ext>
            </a:extLst>
          </p:cNvPr>
          <p:cNvSpPr>
            <a:spLocks xmlns:a="http://schemas.openxmlformats.org/drawingml/2006/main" noGrp="1"/>
          </p:cNvSpPr>
          <p:nvPr/>
        </p:nvSpPr>
        <p:spPr>
          <a:xfrm xmlns:a="http://schemas.openxmlformats.org/drawingml/2006/main">
            <a:off x="514350" y="619125"/>
            <a:ext cx="11096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86"/>
          </a:bodyPr>
          <a:lstStyle xmlns:a="http://schemas.openxmlformats.org/drawingml/2006/main"/>
          <a:p xmlns:a="http://schemas.openxmlformats.org/drawingml/2006/main">
            <a:pPr algn="l">
              <a:defRPr sz="3000" b="1">
                <a:solidFill>
                  <a:srgbClr val="071A14"/>
                </a:solidFill>
              </a:defRPr>
            </a:pPr>
            <a:r>
              <a:rPr sz="3000" b="1">
                <a:solidFill>
                  <a:srgbClr val="071A14"/>
                </a:solidFill>
              </a:rPr>
              <a:t>Credibility comes from validating what is real—and labeling what is not</a:t>
            </a:r>
          </a:p>
        </p:txBody>
      </p:sp>
      <p:sp>
        <p:nvSpPr>
          <p:cNvPr id="3" name="slide-number">
            <a:extLst xmlns:a="http://schemas.openxmlformats.org/drawingml/2006/main">
              <a:ext uri="{FF2B5EF4-FFF2-40B4-BE49-F238E27FC236}">
                <a16:creationId xmlns:a16="http://schemas.microsoft.com/office/drawing/2014/main" id="{CAB33B56-F1AF-422A-A987-2E26FD4311F5}"/>
              </a:ext>
            </a:extLst>
          </p:cNvPr>
          <p:cNvSpPr>
            <a:spLocks xmlns:a="http://schemas.openxmlformats.org/drawingml/2006/main" noGrp="1"/>
          </p:cNvSpPr>
          <p:nvPr/>
        </p:nvSpPr>
        <p:spPr>
          <a:xfrm xmlns:a="http://schemas.openxmlformats.org/drawingml/2006/main">
            <a:off x="1118235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1716A"/>
                </a:solidFill>
              </a:defRPr>
            </a:pPr>
            <a:r>
              <a:rPr sz="900" b="0">
                <a:solidFill>
                  <a:srgbClr val="61716A"/>
                </a:solidFill>
              </a:rPr>
              <a:t>08</a:t>
            </a:r>
          </a:p>
        </p:txBody>
      </p:sp>
      <p:sp>
        <p:nvSpPr>
          <p:cNvPr id="4" name="footer">
            <a:extLst xmlns:a="http://schemas.openxmlformats.org/drawingml/2006/main">
              <a:ext uri="{FF2B5EF4-FFF2-40B4-BE49-F238E27FC236}">
                <a16:creationId xmlns:a16="http://schemas.microsoft.com/office/drawing/2014/main" id="{BA8AA27B-C4C6-4C0D-B284-2CB46DE9AD77}"/>
              </a:ext>
            </a:extLst>
          </p:cNvPr>
          <p:cNvSpPr>
            <a:spLocks xmlns:a="http://schemas.openxmlformats.org/drawingml/2006/main" noGrp="1"/>
          </p:cNvSpPr>
          <p:nvPr/>
        </p:nvSpPr>
        <p:spPr>
          <a:xfrm xmlns:a="http://schemas.openxmlformats.org/drawingml/2006/main">
            <a:off x="514350" y="63627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61716A"/>
                </a:solidFill>
              </a:defRPr>
            </a:pPr>
            <a:r>
              <a:rPr sz="900" b="1">
                <a:solidFill>
                  <a:srgbClr val="61716A"/>
                </a:solidFill>
              </a:rPr>
              <a:t>SIGNALFORGE SOC LAB</a:t>
            </a:r>
          </a:p>
        </p:txBody>
      </p:sp>
      <p:sp>
        <p:nvSpPr>
          <p:cNvPr id="5" name="text">
            <a:extLst xmlns:a="http://schemas.openxmlformats.org/drawingml/2006/main">
              <a:ext uri="{FF2B5EF4-FFF2-40B4-BE49-F238E27FC236}">
                <a16:creationId xmlns:a16="http://schemas.microsoft.com/office/drawing/2014/main" id="{C5B4F880-1A07-490B-983F-90B9B567B606}"/>
              </a:ext>
            </a:extLst>
          </p:cNvPr>
          <p:cNvSpPr>
            <a:spLocks xmlns:a="http://schemas.openxmlformats.org/drawingml/2006/main" noGrp="1"/>
          </p:cNvSpPr>
          <p:nvPr/>
        </p:nvSpPr>
        <p:spPr>
          <a:xfrm xmlns:a="http://schemas.openxmlformats.org/drawingml/2006/main">
            <a:off x="685800" y="157162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6734D"/>
                </a:solidFill>
              </a:defRPr>
            </a:pPr>
            <a:r>
              <a:rPr sz="1500" b="1">
                <a:solidFill>
                  <a:srgbClr val="16734D"/>
                </a:solidFill>
              </a:rPr>
              <a:t>VALIDATED</a:t>
            </a:r>
          </a:p>
        </p:txBody>
      </p:sp>
      <p:sp>
        <p:nvSpPr>
          <p:cNvPr id="6" name="text">
            <a:extLst xmlns:a="http://schemas.openxmlformats.org/drawingml/2006/main">
              <a:ext uri="{FF2B5EF4-FFF2-40B4-BE49-F238E27FC236}">
                <a16:creationId xmlns:a16="http://schemas.microsoft.com/office/drawing/2014/main" id="{CDBAB2EB-43CD-4E70-815D-F9003692CFEA}"/>
              </a:ext>
            </a:extLst>
          </p:cNvPr>
          <p:cNvSpPr>
            <a:spLocks xmlns:a="http://schemas.openxmlformats.org/drawingml/2006/main" noGrp="1"/>
          </p:cNvSpPr>
          <p:nvPr/>
        </p:nvSpPr>
        <p:spPr>
          <a:xfrm xmlns:a="http://schemas.openxmlformats.org/drawingml/2006/main">
            <a:off x="6572250" y="157162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C53B35"/>
                </a:solidFill>
              </a:defRPr>
            </a:pPr>
            <a:r>
              <a:rPr sz="1500" b="1">
                <a:solidFill>
                  <a:srgbClr val="C53B35"/>
                </a:solidFill>
              </a:rPr>
              <a:t>NOT CLAIMED</a:t>
            </a:r>
          </a:p>
        </p:txBody>
      </p:sp>
      <p:sp>
        <p:nvSpPr>
          <p:cNvPr id="7" name="bullets">
            <a:extLst xmlns:a="http://schemas.openxmlformats.org/drawingml/2006/main">
              <a:ext uri="{FF2B5EF4-FFF2-40B4-BE49-F238E27FC236}">
                <a16:creationId xmlns:a16="http://schemas.microsoft.com/office/drawing/2014/main" id="{C521FE2A-D97F-45D5-B637-6BEF9AAEDAD3}"/>
              </a:ext>
            </a:extLst>
          </p:cNvPr>
          <p:cNvSpPr>
            <a:spLocks xmlns:a="http://schemas.openxmlformats.org/drawingml/2006/main" noGrp="1"/>
          </p:cNvSpPr>
          <p:nvPr/>
        </p:nvSpPr>
        <p:spPr>
          <a:xfrm xmlns:a="http://schemas.openxmlformats.org/drawingml/2006/main">
            <a:off x="685800" y="20955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071A14"/>
                </a:solidFill>
              </a:defRPr>
            </a:pPr>
            <a:r>
              <a:rPr sz="1650" b="0">
                <a:solidFill>
                  <a:srgbClr val="071A14"/>
                </a:solidFill>
              </a:rPr>
              <a:t>• Falcon-style aid and event_simpleName</a:t>
            </a:r>
          </a:p>
          <a:p xmlns:a="http://schemas.openxmlformats.org/drawingml/2006/main">
            <a:pPr algn="l">
              <a:defRPr sz="1650" b="0">
                <a:solidFill>
                  <a:srgbClr val="071A14"/>
                </a:solidFill>
              </a:defRPr>
            </a:pPr>
            <a:r>
              <a:rPr sz="1650" b="0">
                <a:solidFill>
                  <a:srgbClr val="071A14"/>
                </a:solidFill>
              </a:rPr>
              <a:t>• ProcessRollup2-like process context</a:t>
            </a:r>
          </a:p>
          <a:p xmlns:a="http://schemas.openxmlformats.org/drawingml/2006/main">
            <a:pPr algn="l">
              <a:defRPr sz="1650" b="0">
                <a:solidFill>
                  <a:srgbClr val="071A14"/>
                </a:solidFill>
              </a:defRPr>
            </a:pPr>
            <a:r>
              <a:rPr sz="1650" b="0">
                <a:solidFill>
                  <a:srgbClr val="071A14"/>
                </a:solidFill>
              </a:rPr>
              <a:t>• Positive and benign PowerShell cases</a:t>
            </a:r>
          </a:p>
          <a:p xmlns:a="http://schemas.openxmlformats.org/drawingml/2006/main">
            <a:pPr algn="l">
              <a:defRPr sz="1650" b="0">
                <a:solidFill>
                  <a:srgbClr val="071A14"/>
                </a:solidFill>
              </a:defRPr>
            </a:pPr>
            <a:r>
              <a:rPr sz="1650" b="0">
                <a:solidFill>
                  <a:srgbClr val="071A14"/>
                </a:solidFill>
              </a:rPr>
              <a:t>• Source-health and detection assertions</a:t>
            </a:r>
          </a:p>
          <a:p xmlns:a="http://schemas.openxmlformats.org/drawingml/2006/main">
            <a:pPr algn="l">
              <a:defRPr sz="1650" b="0">
                <a:solidFill>
                  <a:srgbClr val="071A14"/>
                </a:solidFill>
              </a:defRPr>
            </a:pPr>
            <a:r>
              <a:rPr sz="1650" b="0">
                <a:solidFill>
                  <a:srgbClr val="071A14"/>
                </a:solidFill>
              </a:rPr>
              <a:t>• MITRE-mapped endpoint behaviors</a:t>
            </a:r>
          </a:p>
        </p:txBody>
      </p:sp>
      <p:sp>
        <p:nvSpPr>
          <p:cNvPr id="8" name="bullets">
            <a:extLst xmlns:a="http://schemas.openxmlformats.org/drawingml/2006/main">
              <a:ext uri="{FF2B5EF4-FFF2-40B4-BE49-F238E27FC236}">
                <a16:creationId xmlns:a16="http://schemas.microsoft.com/office/drawing/2014/main" id="{1B667964-7B49-4BFA-A1CF-476D6D58E6D2}"/>
              </a:ext>
            </a:extLst>
          </p:cNvPr>
          <p:cNvSpPr>
            <a:spLocks xmlns:a="http://schemas.openxmlformats.org/drawingml/2006/main" noGrp="1"/>
          </p:cNvSpPr>
          <p:nvPr/>
        </p:nvSpPr>
        <p:spPr>
          <a:xfrm xmlns:a="http://schemas.openxmlformats.org/drawingml/2006/main">
            <a:off x="6572250" y="20955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071A14"/>
                </a:solidFill>
              </a:defRPr>
            </a:pPr>
            <a:r>
              <a:rPr sz="1650" b="0">
                <a:solidFill>
                  <a:srgbClr val="071A14"/>
                </a:solidFill>
              </a:rPr>
              <a:t>• No tenant or API access</a:t>
            </a:r>
          </a:p>
          <a:p xmlns:a="http://schemas.openxmlformats.org/drawingml/2006/main">
            <a:pPr algn="l">
              <a:defRPr sz="1650" b="0">
                <a:solidFill>
                  <a:srgbClr val="071A14"/>
                </a:solidFill>
              </a:defRPr>
            </a:pPr>
            <a:r>
              <a:rPr sz="1650" b="0">
                <a:solidFill>
                  <a:srgbClr val="071A14"/>
                </a:solidFill>
              </a:rPr>
              <a:t>• No Falcon sensor installation</a:t>
            </a:r>
          </a:p>
          <a:p xmlns:a="http://schemas.openxmlformats.org/drawingml/2006/main">
            <a:pPr algn="l">
              <a:defRPr sz="1650" b="0">
                <a:solidFill>
                  <a:srgbClr val="071A14"/>
                </a:solidFill>
              </a:defRPr>
            </a:pPr>
            <a:r>
              <a:rPr sz="1650" b="0">
                <a:solidFill>
                  <a:srgbClr val="071A14"/>
                </a:solidFill>
              </a:rPr>
              <a:t>• No proprietary event export</a:t>
            </a:r>
          </a:p>
          <a:p xmlns:a="http://schemas.openxmlformats.org/drawingml/2006/main">
            <a:pPr algn="l">
              <a:defRPr sz="1650" b="0">
                <a:solidFill>
                  <a:srgbClr val="071A14"/>
                </a:solidFill>
              </a:defRPr>
            </a:pPr>
            <a:r>
              <a:rPr sz="1650" b="0">
                <a:solidFill>
                  <a:srgbClr val="071A14"/>
                </a:solidFill>
              </a:rPr>
              <a:t>• No RTR or containment execution</a:t>
            </a:r>
          </a:p>
          <a:p xmlns:a="http://schemas.openxmlformats.org/drawingml/2006/main">
            <a:pPr algn="l">
              <a:defRPr sz="1650" b="0">
                <a:solidFill>
                  <a:srgbClr val="071A14"/>
                </a:solidFill>
              </a:defRPr>
            </a:pPr>
            <a:r>
              <a:rPr sz="1650" b="0">
                <a:solidFill>
                  <a:srgbClr val="071A14"/>
                </a:solidFill>
              </a:rPr>
              <a:t>• No vendor certification or endorsement</a:t>
            </a:r>
          </a:p>
        </p:txBody>
      </p:sp>
      <p:sp>
        <p:nvSpPr>
          <p:cNvPr id="9" name="boundary">
            <a:extLst xmlns:a="http://schemas.openxmlformats.org/drawingml/2006/main">
              <a:ext uri="{FF2B5EF4-FFF2-40B4-BE49-F238E27FC236}">
                <a16:creationId xmlns:a16="http://schemas.microsoft.com/office/drawing/2014/main" id="{3DA17EAA-EC60-437D-B34F-6B85B4D906C2}"/>
              </a:ext>
            </a:extLst>
          </p:cNvPr>
          <p:cNvSpPr>
            <a:spLocks xmlns:a="http://schemas.openxmlformats.org/drawingml/2006/main" noGrp="1"/>
          </p:cNvSpPr>
          <p:nvPr/>
        </p:nvSpPr>
        <p:spPr>
          <a:xfrm xmlns:a="http://schemas.openxmlformats.org/drawingml/2006/main">
            <a:off x="685800" y="5353050"/>
            <a:ext cx="10648950" cy="666750"/>
          </a:xfrm>
          <a:prstGeom xmlns:a="http://schemas.openxmlformats.org/drawingml/2006/main" prst="rect">
            <a:avLst/>
          </a:prstGeom>
          <a:solidFill xmlns:a="http://schemas.openxmlformats.org/drawingml/2006/main">
            <a:srgbClr val="FFF3D7"/>
          </a:solidFill>
          <a:ln xmlns:a="http://schemas.openxmlformats.org/drawingml/2006/main" w="9525">
            <a:solidFill>
              <a:srgbClr val="B16A00"/>
            </a:solidFill>
            <a:prstDash val="solid"/>
          </a:ln>
        </p:spPr>
      </p:sp>
      <p:sp>
        <p:nvSpPr>
          <p:cNvPr id="10" name="text">
            <a:extLst xmlns:a="http://schemas.openxmlformats.org/drawingml/2006/main">
              <a:ext uri="{FF2B5EF4-FFF2-40B4-BE49-F238E27FC236}">
                <a16:creationId xmlns:a16="http://schemas.microsoft.com/office/drawing/2014/main" id="{AD13D63B-6389-4E76-8EA9-01115987D7A3}"/>
              </a:ext>
            </a:extLst>
          </p:cNvPr>
          <p:cNvSpPr>
            <a:spLocks xmlns:a="http://schemas.openxmlformats.org/drawingml/2006/main" noGrp="1"/>
          </p:cNvSpPr>
          <p:nvPr/>
        </p:nvSpPr>
        <p:spPr>
          <a:xfrm xmlns:a="http://schemas.openxmlformats.org/drawingml/2006/main">
            <a:off x="895350" y="5448300"/>
            <a:ext cx="10191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107"/>
          </a:bodyPr>
          <a:lstStyle xmlns:a="http://schemas.openxmlformats.org/drawingml/2006/main"/>
          <a:p xmlns:a="http://schemas.openxmlformats.org/drawingml/2006/main">
            <a:pPr algn="l">
              <a:defRPr sz="1650" b="1">
                <a:solidFill>
                  <a:srgbClr val="071A14"/>
                </a:solidFill>
              </a:defRPr>
            </a:pPr>
            <a:r>
              <a:rPr sz="1650" b="1">
                <a:solidFill>
                  <a:srgbClr val="071A14"/>
                </a:solidFill>
              </a:rPr>
              <a:t>Production next step: validate read-only against an authorized tenant, then review false positives before response actions.</a:t>
            </a:r>
          </a:p>
        </p:txBody>
      </p:sp>
    </p:spTree>
    <p:extLst>
      <p:ext uri="{BB962C8B-B14F-4D97-AF65-F5344CB8AC3E}">
        <p14:creationId xmlns:p14="http://schemas.microsoft.com/office/powerpoint/2010/main" val="16972092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kicker">
            <a:extLst xmlns:a="http://schemas.openxmlformats.org/drawingml/2006/main">
              <a:ext uri="{FF2B5EF4-FFF2-40B4-BE49-F238E27FC236}">
                <a16:creationId xmlns:a16="http://schemas.microsoft.com/office/drawing/2014/main" id="{B83C0795-1F7C-4C66-AE70-CB60A5DF54BF}"/>
              </a:ext>
            </a:extLst>
          </p:cNvPr>
          <p:cNvSpPr>
            <a:spLocks xmlns:a="http://schemas.openxmlformats.org/drawingml/2006/main" noGrp="1"/>
          </p:cNvSpPr>
          <p:nvPr/>
        </p:nvSpPr>
        <p:spPr>
          <a:xfrm xmlns:a="http://schemas.openxmlformats.org/drawingml/2006/main">
            <a:off x="514350" y="2857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6734D"/>
                </a:solidFill>
              </a:defRPr>
            </a:pPr>
            <a:r>
              <a:rPr sz="1050" b="1">
                <a:solidFill>
                  <a:srgbClr val="16734D"/>
                </a:solidFill>
              </a:rPr>
              <a:t>CONTINUOUS IMPROVEMENT</a:t>
            </a:r>
          </a:p>
        </p:txBody>
      </p:sp>
      <p:sp>
        <p:nvSpPr>
          <p:cNvPr id="2" name="slide-title">
            <a:extLst xmlns:a="http://schemas.openxmlformats.org/drawingml/2006/main">
              <a:ext uri="{FF2B5EF4-FFF2-40B4-BE49-F238E27FC236}">
                <a16:creationId xmlns:a16="http://schemas.microsoft.com/office/drawing/2014/main" id="{7EAF94E4-E79D-408A-87B2-231878D148FB}"/>
              </a:ext>
            </a:extLst>
          </p:cNvPr>
          <p:cNvSpPr>
            <a:spLocks xmlns:a="http://schemas.openxmlformats.org/drawingml/2006/main" noGrp="1"/>
          </p:cNvSpPr>
          <p:nvPr/>
        </p:nvSpPr>
        <p:spPr>
          <a:xfrm xmlns:a="http://schemas.openxmlformats.org/drawingml/2006/main">
            <a:off x="514350" y="619125"/>
            <a:ext cx="11096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071A14"/>
                </a:solidFill>
              </a:defRPr>
            </a:pPr>
            <a:r>
              <a:rPr sz="3000" b="1">
                <a:solidFill>
                  <a:srgbClr val="071A14"/>
                </a:solidFill>
              </a:rPr>
              <a:t>Troubleshooting became documented engineering evidence</a:t>
            </a:r>
          </a:p>
        </p:txBody>
      </p:sp>
      <p:sp>
        <p:nvSpPr>
          <p:cNvPr id="3" name="slide-number">
            <a:extLst xmlns:a="http://schemas.openxmlformats.org/drawingml/2006/main">
              <a:ext uri="{FF2B5EF4-FFF2-40B4-BE49-F238E27FC236}">
                <a16:creationId xmlns:a16="http://schemas.microsoft.com/office/drawing/2014/main" id="{DA9F260D-04BE-4E28-88ED-98FF2EF97181}"/>
              </a:ext>
            </a:extLst>
          </p:cNvPr>
          <p:cNvSpPr>
            <a:spLocks xmlns:a="http://schemas.openxmlformats.org/drawingml/2006/main" noGrp="1"/>
          </p:cNvSpPr>
          <p:nvPr/>
        </p:nvSpPr>
        <p:spPr>
          <a:xfrm xmlns:a="http://schemas.openxmlformats.org/drawingml/2006/main">
            <a:off x="11182350" y="63627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r">
              <a:defRPr sz="900" b="0">
                <a:solidFill>
                  <a:srgbClr val="61716A"/>
                </a:solidFill>
              </a:defRPr>
            </a:pPr>
            <a:r>
              <a:rPr sz="900" b="0">
                <a:solidFill>
                  <a:srgbClr val="61716A"/>
                </a:solidFill>
              </a:rPr>
              <a:t>09</a:t>
            </a:r>
          </a:p>
        </p:txBody>
      </p:sp>
      <p:sp>
        <p:nvSpPr>
          <p:cNvPr id="4" name="footer">
            <a:extLst xmlns:a="http://schemas.openxmlformats.org/drawingml/2006/main">
              <a:ext uri="{FF2B5EF4-FFF2-40B4-BE49-F238E27FC236}">
                <a16:creationId xmlns:a16="http://schemas.microsoft.com/office/drawing/2014/main" id="{8DECF9B1-D786-43B7-BAAB-31AFCF1B00F5}"/>
              </a:ext>
            </a:extLst>
          </p:cNvPr>
          <p:cNvSpPr>
            <a:spLocks xmlns:a="http://schemas.openxmlformats.org/drawingml/2006/main" noGrp="1"/>
          </p:cNvSpPr>
          <p:nvPr/>
        </p:nvSpPr>
        <p:spPr>
          <a:xfrm xmlns:a="http://schemas.openxmlformats.org/drawingml/2006/main">
            <a:off x="514350" y="63627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61716A"/>
                </a:solidFill>
              </a:defRPr>
            </a:pPr>
            <a:r>
              <a:rPr sz="900" b="1">
                <a:solidFill>
                  <a:srgbClr val="61716A"/>
                </a:solidFill>
              </a:rPr>
              <a:t>SIGNALFORGE SOC LAB</a:t>
            </a:r>
          </a:p>
        </p:txBody>
      </p:sp>
      <p:sp>
        <p:nvSpPr>
          <p:cNvPr id="5" name="">
            <a:extLst xmlns:a="http://schemas.openxmlformats.org/drawingml/2006/main">
              <a:ext uri="{FF2B5EF4-FFF2-40B4-BE49-F238E27FC236}">
                <a16:creationId xmlns:a16="http://schemas.microsoft.com/office/drawing/2014/main" id="{083AE779-AC26-4C2A-B779-6288944EABC3}"/>
              </a:ext>
            </a:extLst>
          </p:cNvPr>
          <p:cNvSpPr>
            <a:spLocks xmlns:a="http://schemas.openxmlformats.org/drawingml/2006/main" noGrp="1"/>
          </p:cNvSpPr>
          <p:nvPr/>
        </p:nvSpPr>
        <p:spPr>
          <a:xfrm xmlns:a="http://schemas.openxmlformats.org/drawingml/2006/main">
            <a:off x="2952750" y="3257550"/>
            <a:ext cx="352425" cy="266700"/>
          </a:xfrm>
          <a:prstGeom xmlns:a="http://schemas.openxmlformats.org/drawingml/2006/main" prst="rightArrow">
            <a:avLst/>
          </a:prstGeom>
          <a:solidFill xmlns:a="http://schemas.openxmlformats.org/drawingml/2006/main">
            <a:srgbClr val="B6F04A"/>
          </a:solidFill>
          <a:ln xmlns:a="http://schemas.openxmlformats.org/drawingml/2006/main" w="0">
            <a:solidFill>
              <a:srgbClr val="B6F04A"/>
            </a:solidFill>
            <a:prstDash val="solid"/>
          </a:ln>
        </p:spPr>
      </p:sp>
      <p:sp>
        <p:nvSpPr>
          <p:cNvPr id="6" name="phase-0">
            <a:extLst xmlns:a="http://schemas.openxmlformats.org/drawingml/2006/main">
              <a:ext uri="{FF2B5EF4-FFF2-40B4-BE49-F238E27FC236}">
                <a16:creationId xmlns:a16="http://schemas.microsoft.com/office/drawing/2014/main" id="{B430D148-1725-48ED-988D-52E7E4CA209B}"/>
              </a:ext>
            </a:extLst>
          </p:cNvPr>
          <p:cNvSpPr>
            <a:spLocks xmlns:a="http://schemas.openxmlformats.org/drawingml/2006/main" noGrp="1"/>
          </p:cNvSpPr>
          <p:nvPr/>
        </p:nvSpPr>
        <p:spPr>
          <a:xfrm xmlns:a="http://schemas.openxmlformats.org/drawingml/2006/main">
            <a:off x="523875" y="2190750"/>
            <a:ext cx="2457450" cy="2428875"/>
          </a:xfrm>
          <a:prstGeom xmlns:a="http://schemas.openxmlformats.org/drawingml/2006/main" prst="roundRect">
            <a:avLst>
              <a:gd name="adj" fmla="val 4706"/>
            </a:avLst>
          </a:prstGeom>
          <a:solidFill xmlns:a="http://schemas.openxmlformats.org/drawingml/2006/main">
            <a:srgbClr val="EDF2F0"/>
          </a:solidFill>
          <a:ln xmlns:a="http://schemas.openxmlformats.org/drawingml/2006/main" w="9525">
            <a:solidFill>
              <a:srgbClr val="BCC9C3"/>
            </a:solidFill>
            <a:prstDash val="solid"/>
          </a:ln>
        </p:spPr>
      </p:sp>
      <p:sp>
        <p:nvSpPr>
          <p:cNvPr id="7" name="text">
            <a:extLst xmlns:a="http://schemas.openxmlformats.org/drawingml/2006/main">
              <a:ext uri="{FF2B5EF4-FFF2-40B4-BE49-F238E27FC236}">
                <a16:creationId xmlns:a16="http://schemas.microsoft.com/office/drawing/2014/main" id="{77C3B17B-3D28-4D88-81AF-D611B6731F9E}"/>
              </a:ext>
            </a:extLst>
          </p:cNvPr>
          <p:cNvSpPr>
            <a:spLocks xmlns:a="http://schemas.openxmlformats.org/drawingml/2006/main" noGrp="1"/>
          </p:cNvSpPr>
          <p:nvPr/>
        </p:nvSpPr>
        <p:spPr>
          <a:xfrm xmlns:a="http://schemas.openxmlformats.org/drawingml/2006/main">
            <a:off x="714375" y="236220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6734D"/>
                </a:solidFill>
              </a:defRPr>
            </a:pPr>
            <a:r>
              <a:rPr sz="1575" b="1">
                <a:solidFill>
                  <a:srgbClr val="16734D"/>
                </a:solidFill>
              </a:rPr>
              <a:t>01</a:t>
            </a:r>
          </a:p>
        </p:txBody>
      </p:sp>
      <p:sp>
        <p:nvSpPr>
          <p:cNvPr id="8" name="text">
            <a:extLst xmlns:a="http://schemas.openxmlformats.org/drawingml/2006/main">
              <a:ext uri="{FF2B5EF4-FFF2-40B4-BE49-F238E27FC236}">
                <a16:creationId xmlns:a16="http://schemas.microsoft.com/office/drawing/2014/main" id="{53F3BA4E-72A6-4160-A25C-8FA2A8FEDBE1}"/>
              </a:ext>
            </a:extLst>
          </p:cNvPr>
          <p:cNvSpPr>
            <a:spLocks xmlns:a="http://schemas.openxmlformats.org/drawingml/2006/main" noGrp="1"/>
          </p:cNvSpPr>
          <p:nvPr/>
        </p:nvSpPr>
        <p:spPr>
          <a:xfrm xmlns:a="http://schemas.openxmlformats.org/drawingml/2006/main">
            <a:off x="714375" y="285750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p xmlns:a="http://schemas.openxmlformats.org/drawingml/2006/main">
            <a:pPr algn="l">
              <a:defRPr sz="1800" b="1">
                <a:solidFill>
                  <a:srgbClr val="071A14"/>
                </a:solidFill>
              </a:defRPr>
            </a:pPr>
            <a:r>
              <a:rPr sz="1800" b="1">
                <a:solidFill>
                  <a:srgbClr val="071A14"/>
                </a:solidFill>
              </a:rPr>
              <a:t>Observe</a:t>
            </a:r>
          </a:p>
        </p:txBody>
      </p:sp>
      <p:sp>
        <p:nvSpPr>
          <p:cNvPr id="9" name="text">
            <a:extLst xmlns:a="http://schemas.openxmlformats.org/drawingml/2006/main">
              <a:ext uri="{FF2B5EF4-FFF2-40B4-BE49-F238E27FC236}">
                <a16:creationId xmlns:a16="http://schemas.microsoft.com/office/drawing/2014/main" id="{16BF50D6-8719-4AA7-9AF8-CB8EBE5F0005}"/>
              </a:ext>
            </a:extLst>
          </p:cNvPr>
          <p:cNvSpPr>
            <a:spLocks xmlns:a="http://schemas.openxmlformats.org/drawingml/2006/main" noGrp="1"/>
          </p:cNvSpPr>
          <p:nvPr/>
        </p:nvSpPr>
        <p:spPr>
          <a:xfrm xmlns:a="http://schemas.openxmlformats.org/drawingml/2006/main">
            <a:off x="714375" y="3409950"/>
            <a:ext cx="20764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1716A"/>
                </a:solidFill>
              </a:defRPr>
            </a:pPr>
            <a:r>
              <a:rPr sz="1350" b="0">
                <a:solidFill>
                  <a:srgbClr val="61716A"/>
                </a:solidFill>
              </a:rPr>
              <a:t>Container restarted during fixture ingestion</a:t>
            </a:r>
          </a:p>
        </p:txBody>
      </p:sp>
      <p:sp>
        <p:nvSpPr>
          <p:cNvPr id="10" name="">
            <a:extLst xmlns:a="http://schemas.openxmlformats.org/drawingml/2006/main">
              <a:ext uri="{FF2B5EF4-FFF2-40B4-BE49-F238E27FC236}">
                <a16:creationId xmlns:a16="http://schemas.microsoft.com/office/drawing/2014/main" id="{337DDF82-DF45-4861-A21F-E2CCE2194E80}"/>
              </a:ext>
            </a:extLst>
          </p:cNvPr>
          <p:cNvSpPr>
            <a:spLocks xmlns:a="http://schemas.openxmlformats.org/drawingml/2006/main" noGrp="1"/>
          </p:cNvSpPr>
          <p:nvPr/>
        </p:nvSpPr>
        <p:spPr>
          <a:xfrm xmlns:a="http://schemas.openxmlformats.org/drawingml/2006/main">
            <a:off x="5829300" y="3257550"/>
            <a:ext cx="352425" cy="266700"/>
          </a:xfrm>
          <a:prstGeom xmlns:a="http://schemas.openxmlformats.org/drawingml/2006/main" prst="rightArrow">
            <a:avLst/>
          </a:prstGeom>
          <a:solidFill xmlns:a="http://schemas.openxmlformats.org/drawingml/2006/main">
            <a:srgbClr val="B6F04A"/>
          </a:solidFill>
          <a:ln xmlns:a="http://schemas.openxmlformats.org/drawingml/2006/main" w="0">
            <a:solidFill>
              <a:srgbClr val="B6F04A"/>
            </a:solidFill>
            <a:prstDash val="solid"/>
          </a:ln>
        </p:spPr>
      </p:sp>
      <p:sp>
        <p:nvSpPr>
          <p:cNvPr id="11" name="phase-1">
            <a:extLst xmlns:a="http://schemas.openxmlformats.org/drawingml/2006/main">
              <a:ext uri="{FF2B5EF4-FFF2-40B4-BE49-F238E27FC236}">
                <a16:creationId xmlns:a16="http://schemas.microsoft.com/office/drawing/2014/main" id="{793652B9-F5BA-42E1-945E-B36DF3630134}"/>
              </a:ext>
            </a:extLst>
          </p:cNvPr>
          <p:cNvSpPr>
            <a:spLocks xmlns:a="http://schemas.openxmlformats.org/drawingml/2006/main" noGrp="1"/>
          </p:cNvSpPr>
          <p:nvPr/>
        </p:nvSpPr>
        <p:spPr>
          <a:xfrm xmlns:a="http://schemas.openxmlformats.org/drawingml/2006/main">
            <a:off x="3400425" y="2190750"/>
            <a:ext cx="2457450" cy="2428875"/>
          </a:xfrm>
          <a:prstGeom xmlns:a="http://schemas.openxmlformats.org/drawingml/2006/main" prst="roundRect">
            <a:avLst>
              <a:gd name="adj" fmla="val 4706"/>
            </a:avLst>
          </a:prstGeom>
          <a:solidFill xmlns:a="http://schemas.openxmlformats.org/drawingml/2006/main">
            <a:srgbClr val="EDF2F0"/>
          </a:solidFill>
          <a:ln xmlns:a="http://schemas.openxmlformats.org/drawingml/2006/main" w="9525">
            <a:solidFill>
              <a:srgbClr val="BCC9C3"/>
            </a:solidFill>
            <a:prstDash val="solid"/>
          </a:ln>
        </p:spPr>
      </p:sp>
      <p:sp>
        <p:nvSpPr>
          <p:cNvPr id="12" name="text">
            <a:extLst xmlns:a="http://schemas.openxmlformats.org/drawingml/2006/main">
              <a:ext uri="{FF2B5EF4-FFF2-40B4-BE49-F238E27FC236}">
                <a16:creationId xmlns:a16="http://schemas.microsoft.com/office/drawing/2014/main" id="{54AB50ED-FD5F-4981-B1BE-48B894A533BD}"/>
              </a:ext>
            </a:extLst>
          </p:cNvPr>
          <p:cNvSpPr>
            <a:spLocks xmlns:a="http://schemas.openxmlformats.org/drawingml/2006/main" noGrp="1"/>
          </p:cNvSpPr>
          <p:nvPr/>
        </p:nvSpPr>
        <p:spPr>
          <a:xfrm xmlns:a="http://schemas.openxmlformats.org/drawingml/2006/main">
            <a:off x="3590925" y="236220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6734D"/>
                </a:solidFill>
              </a:defRPr>
            </a:pPr>
            <a:r>
              <a:rPr sz="1575" b="1">
                <a:solidFill>
                  <a:srgbClr val="16734D"/>
                </a:solidFill>
              </a:rPr>
              <a:t>02</a:t>
            </a:r>
          </a:p>
        </p:txBody>
      </p:sp>
      <p:sp>
        <p:nvSpPr>
          <p:cNvPr id="13" name="text">
            <a:extLst xmlns:a="http://schemas.openxmlformats.org/drawingml/2006/main">
              <a:ext uri="{FF2B5EF4-FFF2-40B4-BE49-F238E27FC236}">
                <a16:creationId xmlns:a16="http://schemas.microsoft.com/office/drawing/2014/main" id="{6EF19FD9-F671-4833-8E12-56258EA2FACA}"/>
              </a:ext>
            </a:extLst>
          </p:cNvPr>
          <p:cNvSpPr>
            <a:spLocks xmlns:a="http://schemas.openxmlformats.org/drawingml/2006/main" noGrp="1"/>
          </p:cNvSpPr>
          <p:nvPr/>
        </p:nvSpPr>
        <p:spPr>
          <a:xfrm xmlns:a="http://schemas.openxmlformats.org/drawingml/2006/main">
            <a:off x="3590925" y="285750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p xmlns:a="http://schemas.openxmlformats.org/drawingml/2006/main">
            <a:pPr algn="l">
              <a:defRPr sz="1800" b="1">
                <a:solidFill>
                  <a:srgbClr val="071A14"/>
                </a:solidFill>
              </a:defRPr>
            </a:pPr>
            <a:r>
              <a:rPr sz="1800" b="1">
                <a:solidFill>
                  <a:srgbClr val="071A14"/>
                </a:solidFill>
              </a:rPr>
              <a:t>Diagnose</a:t>
            </a:r>
          </a:p>
        </p:txBody>
      </p:sp>
      <p:sp>
        <p:nvSpPr>
          <p:cNvPr id="14" name="text">
            <a:extLst xmlns:a="http://schemas.openxmlformats.org/drawingml/2006/main">
              <a:ext uri="{FF2B5EF4-FFF2-40B4-BE49-F238E27FC236}">
                <a16:creationId xmlns:a16="http://schemas.microsoft.com/office/drawing/2014/main" id="{5C622B1A-F3A2-451C-99CD-EA2CA35469C1}"/>
              </a:ext>
            </a:extLst>
          </p:cNvPr>
          <p:cNvSpPr>
            <a:spLocks xmlns:a="http://schemas.openxmlformats.org/drawingml/2006/main" noGrp="1"/>
          </p:cNvSpPr>
          <p:nvPr/>
        </p:nvSpPr>
        <p:spPr>
          <a:xfrm xmlns:a="http://schemas.openxmlformats.org/drawingml/2006/main">
            <a:off x="3590925" y="3409950"/>
            <a:ext cx="20764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1716A"/>
                </a:solidFill>
              </a:defRPr>
            </a:pPr>
            <a:r>
              <a:rPr sz="1350" b="0">
                <a:solidFill>
                  <a:srgbClr val="61716A"/>
                </a:solidFill>
              </a:rPr>
              <a:t>Blank JSONL lines caused JSONDecodeError</a:t>
            </a:r>
          </a:p>
        </p:txBody>
      </p:sp>
      <p:sp>
        <p:nvSpPr>
          <p:cNvPr id="15" name="">
            <a:extLst xmlns:a="http://schemas.openxmlformats.org/drawingml/2006/main">
              <a:ext uri="{FF2B5EF4-FFF2-40B4-BE49-F238E27FC236}">
                <a16:creationId xmlns:a16="http://schemas.microsoft.com/office/drawing/2014/main" id="{1033CBC9-4825-4218-B118-2551355E760A}"/>
              </a:ext>
            </a:extLst>
          </p:cNvPr>
          <p:cNvSpPr>
            <a:spLocks xmlns:a="http://schemas.openxmlformats.org/drawingml/2006/main" noGrp="1"/>
          </p:cNvSpPr>
          <p:nvPr/>
        </p:nvSpPr>
        <p:spPr>
          <a:xfrm xmlns:a="http://schemas.openxmlformats.org/drawingml/2006/main">
            <a:off x="8705850" y="3257550"/>
            <a:ext cx="352425" cy="266700"/>
          </a:xfrm>
          <a:prstGeom xmlns:a="http://schemas.openxmlformats.org/drawingml/2006/main" prst="rightArrow">
            <a:avLst/>
          </a:prstGeom>
          <a:solidFill xmlns:a="http://schemas.openxmlformats.org/drawingml/2006/main">
            <a:srgbClr val="B6F04A"/>
          </a:solidFill>
          <a:ln xmlns:a="http://schemas.openxmlformats.org/drawingml/2006/main" w="0">
            <a:solidFill>
              <a:srgbClr val="B6F04A"/>
            </a:solidFill>
            <a:prstDash val="solid"/>
          </a:ln>
        </p:spPr>
      </p:sp>
      <p:sp>
        <p:nvSpPr>
          <p:cNvPr id="16" name="phase-2">
            <a:extLst xmlns:a="http://schemas.openxmlformats.org/drawingml/2006/main">
              <a:ext uri="{FF2B5EF4-FFF2-40B4-BE49-F238E27FC236}">
                <a16:creationId xmlns:a16="http://schemas.microsoft.com/office/drawing/2014/main" id="{5130B557-F53A-40DA-8CE0-2D91D1763DE6}"/>
              </a:ext>
            </a:extLst>
          </p:cNvPr>
          <p:cNvSpPr>
            <a:spLocks xmlns:a="http://schemas.openxmlformats.org/drawingml/2006/main" noGrp="1"/>
          </p:cNvSpPr>
          <p:nvPr/>
        </p:nvSpPr>
        <p:spPr>
          <a:xfrm xmlns:a="http://schemas.openxmlformats.org/drawingml/2006/main">
            <a:off x="6276975" y="2190750"/>
            <a:ext cx="2457450" cy="2428875"/>
          </a:xfrm>
          <a:prstGeom xmlns:a="http://schemas.openxmlformats.org/drawingml/2006/main" prst="roundRect">
            <a:avLst>
              <a:gd name="adj" fmla="val 4706"/>
            </a:avLst>
          </a:prstGeom>
          <a:solidFill xmlns:a="http://schemas.openxmlformats.org/drawingml/2006/main">
            <a:srgbClr val="EDF2F0"/>
          </a:solidFill>
          <a:ln xmlns:a="http://schemas.openxmlformats.org/drawingml/2006/main" w="9525">
            <a:solidFill>
              <a:srgbClr val="BCC9C3"/>
            </a:solidFill>
            <a:prstDash val="solid"/>
          </a:ln>
        </p:spPr>
      </p:sp>
      <p:sp>
        <p:nvSpPr>
          <p:cNvPr id="17" name="text">
            <a:extLst xmlns:a="http://schemas.openxmlformats.org/drawingml/2006/main">
              <a:ext uri="{FF2B5EF4-FFF2-40B4-BE49-F238E27FC236}">
                <a16:creationId xmlns:a16="http://schemas.microsoft.com/office/drawing/2014/main" id="{2EB79DF9-5D0D-48FD-843D-E94A1636B022}"/>
              </a:ext>
            </a:extLst>
          </p:cNvPr>
          <p:cNvSpPr>
            <a:spLocks xmlns:a="http://schemas.openxmlformats.org/drawingml/2006/main" noGrp="1"/>
          </p:cNvSpPr>
          <p:nvPr/>
        </p:nvSpPr>
        <p:spPr>
          <a:xfrm xmlns:a="http://schemas.openxmlformats.org/drawingml/2006/main">
            <a:off x="6467475" y="236220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6734D"/>
                </a:solidFill>
              </a:defRPr>
            </a:pPr>
            <a:r>
              <a:rPr sz="1575" b="1">
                <a:solidFill>
                  <a:srgbClr val="16734D"/>
                </a:solidFill>
              </a:rPr>
              <a:t>03</a:t>
            </a:r>
          </a:p>
        </p:txBody>
      </p:sp>
      <p:sp>
        <p:nvSpPr>
          <p:cNvPr id="18" name="text">
            <a:extLst xmlns:a="http://schemas.openxmlformats.org/drawingml/2006/main">
              <a:ext uri="{FF2B5EF4-FFF2-40B4-BE49-F238E27FC236}">
                <a16:creationId xmlns:a16="http://schemas.microsoft.com/office/drawing/2014/main" id="{22CF36B7-93B4-48CB-9D0E-E48A9044CD35}"/>
              </a:ext>
            </a:extLst>
          </p:cNvPr>
          <p:cNvSpPr>
            <a:spLocks xmlns:a="http://schemas.openxmlformats.org/drawingml/2006/main" noGrp="1"/>
          </p:cNvSpPr>
          <p:nvPr/>
        </p:nvSpPr>
        <p:spPr>
          <a:xfrm xmlns:a="http://schemas.openxmlformats.org/drawingml/2006/main">
            <a:off x="6467475" y="285750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p xmlns:a="http://schemas.openxmlformats.org/drawingml/2006/main">
            <a:pPr algn="l">
              <a:defRPr sz="1800" b="1">
                <a:solidFill>
                  <a:srgbClr val="071A14"/>
                </a:solidFill>
              </a:defRPr>
            </a:pPr>
            <a:r>
              <a:rPr sz="1800" b="1">
                <a:solidFill>
                  <a:srgbClr val="071A14"/>
                </a:solidFill>
              </a:rPr>
              <a:t>Fix</a:t>
            </a:r>
          </a:p>
        </p:txBody>
      </p:sp>
      <p:sp>
        <p:nvSpPr>
          <p:cNvPr id="19" name="text">
            <a:extLst xmlns:a="http://schemas.openxmlformats.org/drawingml/2006/main">
              <a:ext uri="{FF2B5EF4-FFF2-40B4-BE49-F238E27FC236}">
                <a16:creationId xmlns:a16="http://schemas.microsoft.com/office/drawing/2014/main" id="{F844FC61-7749-4562-B65D-2550C6621E42}"/>
              </a:ext>
            </a:extLst>
          </p:cNvPr>
          <p:cNvSpPr>
            <a:spLocks xmlns:a="http://schemas.openxmlformats.org/drawingml/2006/main" noGrp="1"/>
          </p:cNvSpPr>
          <p:nvPr/>
        </p:nvSpPr>
        <p:spPr>
          <a:xfrm xmlns:a="http://schemas.openxmlformats.org/drawingml/2006/main">
            <a:off x="6467475" y="3409950"/>
            <a:ext cx="20764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1716A"/>
                </a:solidFill>
              </a:defRPr>
            </a:pPr>
            <a:r>
              <a:rPr sz="1350" b="0">
                <a:solidFill>
                  <a:srgbClr val="61716A"/>
                </a:solidFill>
              </a:rPr>
              <a:t>Skip whitespace-only records during loading</a:t>
            </a:r>
          </a:p>
        </p:txBody>
      </p:sp>
      <p:sp>
        <p:nvSpPr>
          <p:cNvPr id="20" name="phase-3">
            <a:extLst xmlns:a="http://schemas.openxmlformats.org/drawingml/2006/main">
              <a:ext uri="{FF2B5EF4-FFF2-40B4-BE49-F238E27FC236}">
                <a16:creationId xmlns:a16="http://schemas.microsoft.com/office/drawing/2014/main" id="{F813FF4C-0B3A-4269-AB88-32DC842625A7}"/>
              </a:ext>
            </a:extLst>
          </p:cNvPr>
          <p:cNvSpPr>
            <a:spLocks xmlns:a="http://schemas.openxmlformats.org/drawingml/2006/main" noGrp="1"/>
          </p:cNvSpPr>
          <p:nvPr/>
        </p:nvSpPr>
        <p:spPr>
          <a:xfrm xmlns:a="http://schemas.openxmlformats.org/drawingml/2006/main">
            <a:off x="9153525" y="2190750"/>
            <a:ext cx="2457450" cy="2428875"/>
          </a:xfrm>
          <a:prstGeom xmlns:a="http://schemas.openxmlformats.org/drawingml/2006/main" prst="roundRect">
            <a:avLst>
              <a:gd name="adj" fmla="val 4706"/>
            </a:avLst>
          </a:prstGeom>
          <a:solidFill xmlns:a="http://schemas.openxmlformats.org/drawingml/2006/main">
            <a:srgbClr val="E3F7EC"/>
          </a:solidFill>
          <a:ln xmlns:a="http://schemas.openxmlformats.org/drawingml/2006/main" w="9525">
            <a:solidFill>
              <a:srgbClr val="BCC9C3"/>
            </a:solidFill>
            <a:prstDash val="solid"/>
          </a:ln>
        </p:spPr>
      </p:sp>
      <p:sp>
        <p:nvSpPr>
          <p:cNvPr id="21" name="text">
            <a:extLst xmlns:a="http://schemas.openxmlformats.org/drawingml/2006/main">
              <a:ext uri="{FF2B5EF4-FFF2-40B4-BE49-F238E27FC236}">
                <a16:creationId xmlns:a16="http://schemas.microsoft.com/office/drawing/2014/main" id="{03C990DB-8300-4F3B-84E9-0271BE88C943}"/>
              </a:ext>
            </a:extLst>
          </p:cNvPr>
          <p:cNvSpPr>
            <a:spLocks xmlns:a="http://schemas.openxmlformats.org/drawingml/2006/main" noGrp="1"/>
          </p:cNvSpPr>
          <p:nvPr/>
        </p:nvSpPr>
        <p:spPr>
          <a:xfrm xmlns:a="http://schemas.openxmlformats.org/drawingml/2006/main">
            <a:off x="9344025" y="236220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6734D"/>
                </a:solidFill>
              </a:defRPr>
            </a:pPr>
            <a:r>
              <a:rPr sz="1575" b="1">
                <a:solidFill>
                  <a:srgbClr val="16734D"/>
                </a:solidFill>
              </a:rPr>
              <a:t>04</a:t>
            </a:r>
          </a:p>
        </p:txBody>
      </p:sp>
      <p:sp>
        <p:nvSpPr>
          <p:cNvPr id="22" name="text">
            <a:extLst xmlns:a="http://schemas.openxmlformats.org/drawingml/2006/main">
              <a:ext uri="{FF2B5EF4-FFF2-40B4-BE49-F238E27FC236}">
                <a16:creationId xmlns:a16="http://schemas.microsoft.com/office/drawing/2014/main" id="{B36E92FA-0AE2-476B-AED5-8CE119ED3F64}"/>
              </a:ext>
            </a:extLst>
          </p:cNvPr>
          <p:cNvSpPr>
            <a:spLocks xmlns:a="http://schemas.openxmlformats.org/drawingml/2006/main" noGrp="1"/>
          </p:cNvSpPr>
          <p:nvPr/>
        </p:nvSpPr>
        <p:spPr>
          <a:xfrm xmlns:a="http://schemas.openxmlformats.org/drawingml/2006/main">
            <a:off x="9344025" y="285750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p xmlns:a="http://schemas.openxmlformats.org/drawingml/2006/main">
            <a:pPr algn="l">
              <a:defRPr sz="1800" b="1">
                <a:solidFill>
                  <a:srgbClr val="071A14"/>
                </a:solidFill>
              </a:defRPr>
            </a:pPr>
            <a:r>
              <a:rPr sz="1800" b="1">
                <a:solidFill>
                  <a:srgbClr val="071A14"/>
                </a:solidFill>
              </a:rPr>
              <a:t>Verify</a:t>
            </a:r>
          </a:p>
        </p:txBody>
      </p:sp>
      <p:sp>
        <p:nvSpPr>
          <p:cNvPr id="23" name="text">
            <a:extLst xmlns:a="http://schemas.openxmlformats.org/drawingml/2006/main">
              <a:ext uri="{FF2B5EF4-FFF2-40B4-BE49-F238E27FC236}">
                <a16:creationId xmlns:a16="http://schemas.microsoft.com/office/drawing/2014/main" id="{10BE7596-4D79-439E-9B09-E822EA5F7EFA}"/>
              </a:ext>
            </a:extLst>
          </p:cNvPr>
          <p:cNvSpPr>
            <a:spLocks xmlns:a="http://schemas.openxmlformats.org/drawingml/2006/main" noGrp="1"/>
          </p:cNvSpPr>
          <p:nvPr/>
        </p:nvSpPr>
        <p:spPr>
          <a:xfrm xmlns:a="http://schemas.openxmlformats.org/drawingml/2006/main">
            <a:off x="9344025" y="3409950"/>
            <a:ext cx="20764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1716A"/>
                </a:solidFill>
              </a:defRPr>
            </a:pPr>
            <a:r>
              <a:rPr sz="1350" b="0">
                <a:solidFill>
                  <a:srgbClr val="61716A"/>
                </a:solidFill>
              </a:rPr>
              <a:t>Reset only the lab volume; rerun all checks</a:t>
            </a:r>
          </a:p>
        </p:txBody>
      </p:sp>
      <p:sp>
        <p:nvSpPr>
          <p:cNvPr id="24" name="text">
            <a:extLst xmlns:a="http://schemas.openxmlformats.org/drawingml/2006/main">
              <a:ext uri="{FF2B5EF4-FFF2-40B4-BE49-F238E27FC236}">
                <a16:creationId xmlns:a16="http://schemas.microsoft.com/office/drawing/2014/main" id="{0D2406E4-019F-4E80-979E-F8A5242F2973}"/>
              </a:ext>
            </a:extLst>
          </p:cNvPr>
          <p:cNvSpPr>
            <a:spLocks xmlns:a="http://schemas.openxmlformats.org/drawingml/2006/main" noGrp="1"/>
          </p:cNvSpPr>
          <p:nvPr/>
        </p:nvSpPr>
        <p:spPr>
          <a:xfrm xmlns:a="http://schemas.openxmlformats.org/drawingml/2006/main">
            <a:off x="523875" y="50958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6734D"/>
                </a:solidFill>
              </a:defRPr>
            </a:pPr>
            <a:r>
              <a:rPr sz="1350" b="1">
                <a:solidFill>
                  <a:srgbClr val="16734D"/>
                </a:solidFill>
              </a:rPr>
              <a:t>Senior signal</a:t>
            </a:r>
          </a:p>
        </p:txBody>
      </p:sp>
      <p:sp>
        <p:nvSpPr>
          <p:cNvPr id="25" name="text">
            <a:extLst xmlns:a="http://schemas.openxmlformats.org/drawingml/2006/main">
              <a:ext uri="{FF2B5EF4-FFF2-40B4-BE49-F238E27FC236}">
                <a16:creationId xmlns:a16="http://schemas.microsoft.com/office/drawing/2014/main" id="{A8A2CD63-A20E-4716-B8D7-E7DCAE381FAF}"/>
              </a:ext>
            </a:extLst>
          </p:cNvPr>
          <p:cNvSpPr>
            <a:spLocks xmlns:a="http://schemas.openxmlformats.org/drawingml/2006/main" noGrp="1"/>
          </p:cNvSpPr>
          <p:nvPr/>
        </p:nvSpPr>
        <p:spPr>
          <a:xfrm xmlns:a="http://schemas.openxmlformats.org/drawingml/2006/main">
            <a:off x="523875" y="5467350"/>
            <a:ext cx="1000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071A14"/>
                </a:solidFill>
              </a:defRPr>
            </a:pPr>
            <a:r>
              <a:rPr sz="2025" b="1">
                <a:solidFill>
                  <a:srgbClr val="071A14"/>
                </a:solidFill>
              </a:rPr>
              <a:t>Scoped recovery, documented root cause, deterministic regression checks.</a:t>
            </a:r>
          </a:p>
        </p:txBody>
      </p:sp>
    </p:spTree>
    <p:extLst>
      <p:ext uri="{BB962C8B-B14F-4D97-AF65-F5344CB8AC3E}">
        <p14:creationId xmlns:p14="http://schemas.microsoft.com/office/powerpoint/2010/main" val="1412436545"/>
      </p:ext>
    </p:extLst>
  </p:cSld>
</p:sld>
</file>

<file path=ppt/slides/slide10.xml><?xml version="1.0" encoding="utf-8"?>
<p:sld xmlns:p="http://schemas.openxmlformats.org/presentationml/2006/main">
  <p:cSld>
    <p:bg>
      <p:bgPr>
        <a:solidFill xmlns:a="http://schemas.openxmlformats.org/drawingml/2006/main">
          <a:srgbClr val="0B1914"/>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94D27533-9287-4883-B41E-2DE8625F8DFC}"/>
              </a:ext>
            </a:extLst>
          </p:cNvPr>
          <p:cNvSpPr>
            <a:spLocks xmlns:a="http://schemas.openxmlformats.org/drawingml/2006/main" noGrp="1"/>
          </p:cNvSpPr>
          <p:nvPr/>
        </p:nvSpPr>
        <p:spPr>
          <a:xfrm xmlns:a="http://schemas.openxmlformats.org/drawingml/2006/main">
            <a:off x="552450" y="4286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B6F04A"/>
                </a:solidFill>
              </a:defRPr>
            </a:pPr>
            <a:r>
              <a:rPr sz="1200" b="1">
                <a:solidFill>
                  <a:srgbClr val="B6F04A"/>
                </a:solidFill>
              </a:rPr>
              <a:t>THE RECRUITER TAKEAWAY</a:t>
            </a:r>
          </a:p>
        </p:txBody>
      </p:sp>
      <p:sp>
        <p:nvSpPr>
          <p:cNvPr id="2" name="closing-title">
            <a:extLst xmlns:a="http://schemas.openxmlformats.org/drawingml/2006/main">
              <a:ext uri="{FF2B5EF4-FFF2-40B4-BE49-F238E27FC236}">
                <a16:creationId xmlns:a16="http://schemas.microsoft.com/office/drawing/2014/main" id="{407A47E1-0853-451F-9C18-E39739FF8A8E}"/>
              </a:ext>
            </a:extLst>
          </p:cNvPr>
          <p:cNvSpPr>
            <a:spLocks xmlns:a="http://schemas.openxmlformats.org/drawingml/2006/main" noGrp="1"/>
          </p:cNvSpPr>
          <p:nvPr/>
        </p:nvSpPr>
        <p:spPr>
          <a:xfrm xmlns:a="http://schemas.openxmlformats.org/drawingml/2006/main">
            <a:off x="552450" y="1219200"/>
            <a:ext cx="1028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FFFFFF"/>
                </a:solidFill>
              </a:defRPr>
            </a:pPr>
            <a:r>
              <a:rPr sz="3750" b="1">
                <a:solidFill>
                  <a:srgbClr val="FFFFFF"/>
                </a:solidFill>
              </a:rPr>
              <a:t>I can turn noisy security data</a:t>
            </a:r>
          </a:p>
          <a:p xmlns:a="http://schemas.openxmlformats.org/drawingml/2006/main">
            <a:pPr algn="l">
              <a:defRPr sz="3750" b="1">
                <a:solidFill>
                  <a:srgbClr val="FFFFFF"/>
                </a:solidFill>
              </a:defRPr>
            </a:pPr>
            <a:r>
              <a:rPr sz="3750" b="1">
                <a:solidFill>
                  <a:srgbClr val="FFFFFF"/>
                </a:solidFill>
              </a:rPr>
              <a:t>into tested, explainable action.</a:t>
            </a:r>
          </a:p>
        </p:txBody>
      </p:sp>
      <p:sp>
        <p:nvSpPr>
          <p:cNvPr id="3" name="bullets">
            <a:extLst xmlns:a="http://schemas.openxmlformats.org/drawingml/2006/main">
              <a:ext uri="{FF2B5EF4-FFF2-40B4-BE49-F238E27FC236}">
                <a16:creationId xmlns:a16="http://schemas.microsoft.com/office/drawing/2014/main" id="{4BE31305-B33F-4481-9EB9-0C4E09204A85}"/>
              </a:ext>
            </a:extLst>
          </p:cNvPr>
          <p:cNvSpPr>
            <a:spLocks xmlns:a="http://schemas.openxmlformats.org/drawingml/2006/main" noGrp="1"/>
          </p:cNvSpPr>
          <p:nvPr/>
        </p:nvSpPr>
        <p:spPr>
          <a:xfrm xmlns:a="http://schemas.openxmlformats.org/drawingml/2006/main">
            <a:off x="590550" y="3276600"/>
            <a:ext cx="10001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DCEAE4"/>
                </a:solidFill>
              </a:defRPr>
            </a:pPr>
            <a:r>
              <a:rPr sz="1800" b="0">
                <a:solidFill>
                  <a:srgbClr val="DCEAE4"/>
                </a:solidFill>
              </a:rPr>
              <a:t>• Detection engineering: SPL + Python rules</a:t>
            </a:r>
          </a:p>
          <a:p xmlns:a="http://schemas.openxmlformats.org/drawingml/2006/main">
            <a:pPr algn="l">
              <a:defRPr sz="1800" b="0">
                <a:solidFill>
                  <a:srgbClr val="DCEAE4"/>
                </a:solidFill>
              </a:defRPr>
            </a:pPr>
            <a:r>
              <a:rPr sz="1800" b="0">
                <a:solidFill>
                  <a:srgbClr val="DCEAE4"/>
                </a:solidFill>
              </a:rPr>
              <a:t>• SOC operations: triage + incident narrative</a:t>
            </a:r>
          </a:p>
          <a:p xmlns:a="http://schemas.openxmlformats.org/drawingml/2006/main">
            <a:pPr algn="l">
              <a:defRPr sz="1800" b="0">
                <a:solidFill>
                  <a:srgbClr val="DCEAE4"/>
                </a:solidFill>
              </a:defRPr>
            </a:pPr>
            <a:r>
              <a:rPr sz="1800" b="0">
                <a:solidFill>
                  <a:srgbClr val="DCEAE4"/>
                </a:solidFill>
              </a:rPr>
              <a:t>• Platform breadth: endpoint, email, cloud, web</a:t>
            </a:r>
          </a:p>
          <a:p xmlns:a="http://schemas.openxmlformats.org/drawingml/2006/main">
            <a:pPr algn="l">
              <a:defRPr sz="1800" b="0">
                <a:solidFill>
                  <a:srgbClr val="DCEAE4"/>
                </a:solidFill>
              </a:defRPr>
            </a:pPr>
            <a:r>
              <a:rPr sz="1800" b="0">
                <a:solidFill>
                  <a:srgbClr val="DCEAE4"/>
                </a:solidFill>
              </a:rPr>
              <a:t>• Automation: repeatable tests + PowerShell reporting</a:t>
            </a:r>
          </a:p>
          <a:p xmlns:a="http://schemas.openxmlformats.org/drawingml/2006/main">
            <a:pPr algn="l">
              <a:defRPr sz="1800" b="0">
                <a:solidFill>
                  <a:srgbClr val="DCEAE4"/>
                </a:solidFill>
              </a:defRPr>
            </a:pPr>
            <a:r>
              <a:rPr sz="1800" b="0">
                <a:solidFill>
                  <a:srgbClr val="DCEAE4"/>
                </a:solidFill>
              </a:rPr>
              <a:t>• Judgment: explicit safety, cost, and validation boundaries</a:t>
            </a:r>
          </a:p>
        </p:txBody>
      </p:sp>
      <p:sp>
        <p:nvSpPr>
          <p:cNvPr id="4" name="repo-bar">
            <a:extLst xmlns:a="http://schemas.openxmlformats.org/drawingml/2006/main">
              <a:ext uri="{FF2B5EF4-FFF2-40B4-BE49-F238E27FC236}">
                <a16:creationId xmlns:a16="http://schemas.microsoft.com/office/drawing/2014/main" id="{FE977BE7-ACD9-4633-B087-47065AC2A57A}"/>
              </a:ext>
            </a:extLst>
          </p:cNvPr>
          <p:cNvSpPr>
            <a:spLocks xmlns:a="http://schemas.openxmlformats.org/drawingml/2006/main" noGrp="1"/>
          </p:cNvSpPr>
          <p:nvPr/>
        </p:nvSpPr>
        <p:spPr>
          <a:xfrm xmlns:a="http://schemas.openxmlformats.org/drawingml/2006/main">
            <a:off x="552450" y="5743575"/>
            <a:ext cx="7429500" cy="523875"/>
          </a:xfrm>
          <a:prstGeom xmlns:a="http://schemas.openxmlformats.org/drawingml/2006/main" prst="rect">
            <a:avLst/>
          </a:prstGeom>
          <a:solidFill xmlns:a="http://schemas.openxmlformats.org/drawingml/2006/main">
            <a:srgbClr val="B6F04A"/>
          </a:solidFill>
          <a:ln xmlns:a="http://schemas.openxmlformats.org/drawingml/2006/main" w="0">
            <a:noFill/>
            <a:prstDash val="solid"/>
          </a:ln>
        </p:spPr>
      </p:sp>
      <p:sp>
        <p:nvSpPr>
          <p:cNvPr id="5" name="repo">
            <a:extLst xmlns:a="http://schemas.openxmlformats.org/drawingml/2006/main">
              <a:ext uri="{FF2B5EF4-FFF2-40B4-BE49-F238E27FC236}">
                <a16:creationId xmlns:a16="http://schemas.microsoft.com/office/drawing/2014/main" id="{B1136DD6-5458-4699-B563-480505F5F6F9}"/>
              </a:ext>
            </a:extLst>
          </p:cNvPr>
          <p:cNvSpPr>
            <a:spLocks xmlns:a="http://schemas.openxmlformats.org/drawingml/2006/main" noGrp="1"/>
          </p:cNvSpPr>
          <p:nvPr/>
        </p:nvSpPr>
        <p:spPr>
          <a:xfrm xmlns:a="http://schemas.openxmlformats.org/drawingml/2006/main">
            <a:off x="742950" y="5810250"/>
            <a:ext cx="704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B1914"/>
                </a:solidFill>
              </a:defRPr>
            </a:pPr>
            <a:r>
              <a:rPr sz="1425" b="1">
                <a:solidFill>
                  <a:srgbClr val="0B1914"/>
                </a:solidFill>
              </a:rPr>
              <a:t>github.com/JoelManglin/soc-detection-engineering-lab</a:t>
            </a:r>
          </a:p>
        </p:txBody>
      </p:sp>
      <p:sp>
        <p:nvSpPr>
          <p:cNvPr id="6" name="slide-number">
            <a:extLst xmlns:a="http://schemas.openxmlformats.org/drawingml/2006/main">
              <a:ext uri="{FF2B5EF4-FFF2-40B4-BE49-F238E27FC236}">
                <a16:creationId xmlns:a16="http://schemas.microsoft.com/office/drawing/2014/main" id="{85055BE5-E24B-4A80-88F9-8C24DF2F43AD}"/>
              </a:ext>
            </a:extLst>
          </p:cNvPr>
          <p:cNvSpPr>
            <a:spLocks xmlns:a="http://schemas.openxmlformats.org/drawingml/2006/main" noGrp="1"/>
          </p:cNvSpPr>
          <p:nvPr/>
        </p:nvSpPr>
        <p:spPr>
          <a:xfrm xmlns:a="http://schemas.openxmlformats.org/drawingml/2006/main">
            <a:off x="1118235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FFFFFF"/>
                </a:solidFill>
              </a:defRPr>
            </a:pPr>
            <a:r>
              <a:rPr sz="900" b="0">
                <a:solidFill>
                  <a:srgbClr val="FFFFFF"/>
                </a:solidFill>
              </a:rPr>
              <a:t>10</a:t>
            </a:r>
          </a:p>
        </p:txBody>
      </p:sp>
    </p:spTree>
    <p:extLst>
      <p:ext uri="{BB962C8B-B14F-4D97-AF65-F5344CB8AC3E}">
        <p14:creationId xmlns:p14="http://schemas.microsoft.com/office/powerpoint/2010/main" val="191211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2026-08-18T19:59:09.2190000Z</dcterms:created>
  <dcterms:modified xsi:type="dcterms:W3CDTF">2026-08-18T19:59:09.2200000Z</dcterms:modified>
</coreProperties>
</file>